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98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22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Lembar_Kerja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Lembar_Kerja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d-ID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460"/>
                </a:solidFill>
                <a:latin typeface="Arial"/>
              </a:defRPr>
            </a:pPr>
            <a:r>
              <a:rPr lang="id-ID" sz="1300" b="0" i="0" u="none" strike="noStrike">
                <a:solidFill>
                  <a:srgbClr val="0F3460"/>
                </a:solidFill>
                <a:latin typeface="Arial"/>
              </a:rPr>
              <a:t>Jumlah Pendaftar per Tahun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Pendaftar</c:v>
                </c:pt>
              </c:strCache>
            </c:strRef>
          </c:tx>
          <c:spPr>
            <a:solidFill>
              <a:srgbClr val="1690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146</c:v>
                </c:pt>
                <c:pt idx="1">
                  <c:v>274</c:v>
                </c:pt>
                <c:pt idx="2">
                  <c:v>301</c:v>
                </c:pt>
                <c:pt idx="3">
                  <c:v>458</c:v>
                </c:pt>
                <c:pt idx="4">
                  <c:v>680</c:v>
                </c:pt>
                <c:pt idx="5">
                  <c:v>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684F-86F6-DCA62C218E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id-I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d-ID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Persentase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Sarjana Informatika</c:v>
                </c:pt>
                <c:pt idx="1">
                  <c:v>Sarjana Teknologi Informasi</c:v>
                </c:pt>
                <c:pt idx="2">
                  <c:v>Sarjana Teknik Industri</c:v>
                </c:pt>
                <c:pt idx="3">
                  <c:v>D3 Akuntansi</c:v>
                </c:pt>
                <c:pt idx="4">
                  <c:v>D3 Adm. Perkantoran</c:v>
                </c:pt>
                <c:pt idx="5">
                  <c:v>Sarjana Fisika</c:v>
                </c:pt>
                <c:pt idx="6">
                  <c:v>D3 Kriya Batik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30.9</c:v>
                </c:pt>
                <c:pt idx="1">
                  <c:v>28.2</c:v>
                </c:pt>
                <c:pt idx="2">
                  <c:v>16.3</c:v>
                </c:pt>
                <c:pt idx="3">
                  <c:v>8.6999999999999993</c:v>
                </c:pt>
                <c:pt idx="4">
                  <c:v>7.7</c:v>
                </c:pt>
                <c:pt idx="5">
                  <c:v>5.8</c:v>
                </c:pt>
                <c:pt idx="6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A6-764E-B2A3-B34CA27E26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Arial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id-I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94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F346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6909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Segmentasi Probabilistik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Calon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Mahasiswa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Gaussian Mixture Model dan Otomasi Analisis Large Language Model untuk Optimalisasi Rekrutmen di ITSNU Pekalongan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914400" cy="0"/>
          </a:xfrm>
          <a:prstGeom prst="line">
            <a:avLst/>
          </a:prstGeom>
          <a:noFill/>
          <a:ln w="38100">
            <a:solidFill>
              <a:srgbClr val="E94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Mujibul Hakim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</a:rPr>
              <a:t>NIM 25.01.85.7010  ·  Magister Teknologi Informasi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</a:rPr>
              <a:t>Pembimbing: Dr. Drs. Eri Zuliarso, M.Kom., MCF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Fakultas Teknologi Informasi dan Industri · Universitas Stikubank (UNISBANK) Semarang · 2026</a:t>
            </a:r>
            <a:endParaRPr lang="en-US" sz="1050" dirty="0"/>
          </a:p>
        </p:txBody>
      </p:sp>
      <p:pic>
        <p:nvPicPr>
          <p:cNvPr id="11" name="Gambar 10">
            <a:extLst>
              <a:ext uri="{FF2B5EF4-FFF2-40B4-BE49-F238E27FC236}">
                <a16:creationId xmlns:a16="http://schemas.microsoft.com/office/drawing/2014/main" id="{FFBB41A6-5956-6849-8597-D263982E1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0590" y="543560"/>
            <a:ext cx="11938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Rekrutmen yang Reaktif di Tengah Volatilitas Pasca-Pandemi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3460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pendaftar ITSNU Pekalongan berfluktuasi tajam: 146 (2019) → melonjak di masa COVID → puncak 680 (2023) → koreksi ke 503 (2024).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953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346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907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rekrutmen konvensional memperlakukan calon mahasiswa sebagai populasi homogen — mengabaikan pergeseran struktural antar periode.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9410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346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89534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teks pendaftaran (esai, latar belakang, motivasi) belum dimanfaatkan sebagai sinyal segmentasi yang kaya secara semantik.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49286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346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88289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Dibutuhkan pendekatan yang mampu memetakan segmen secara probabilistik sekaligus menerjemahkannya menjadi strategi yang actionable bagi tim PMB.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F346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 &amp; TUJUAN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Pertanyaan Penelitian ke Tujuan yang Terukur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pola segmentasi probabilistik calon mahasiswa dapat diidentifikasi secara konsisten dari data time series 2019–2024?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stabilitas struktur segmen berubah antar periode akademik, khususnya melintasi fase pra-COVID, krisis, dan recovery?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otomasi LLM dapat menerjemahkan hasil klaster kuantitatif menjadi narasi dan strategi rekrutmen yang aplikatif?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86400" cy="44805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pipeline segmentasi probabilistik berbasis IndoBERT + GMM yang konsisten lintas 6 periode akademik.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stabilitas dan dinamika segmen antar periode menggunakan analisis time series (ARI, centroid drift).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Hybrid Cognitive Pipeline (LLM lokal + cloud) untuk otomasi reasoning dan rekomendasi strategi rekrutmen.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5FB8582F-4F4D-9545-AC6B-ED9B7FBC1029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KONSEPTUAL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Cognitive Pipeline: dari Teks Mentah ke Strategi Rekrutmen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F3460">
              <a:alpha val="9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Teks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F3460">
              <a:alpha val="9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3774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IndoBERT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6909C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3774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Reduksi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6909C">
              <a:alpha val="9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3774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Klasterisasi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94F37">
              <a:alpha val="9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3774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Hybrid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2124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49840" y="23774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94F37">
              <a:alpha val="9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23774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Rekrutmen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model LLM dibandingkan secara komparatif: </a:t>
            </a: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lokal (privasi PII data mentah) untuk pra-pemrosesan, dan model cloud via proxy OpenRouter (nvidia/minimax-m2.7 dengan fallback deepseek-v4-flash-free) untuk reasoning strategis tingkat lanjut atas metadata teragregasi.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3949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kunci: hanya statistik klaster teragregasi (anonim) yang dikirim ke model cloud — data mentah calon mahasiswa tidak pernah meninggalkan lingkungan lokal.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9AD712BB-6DF0-B749-9C23-B9B7EB5FCE53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F346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Adaptif Time Series — 10 Tahap Penelitian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514600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80360" y="1965960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52928" y="2514600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66360" y="1965960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38928" y="2514600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52360" y="1965960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24928" y="2514600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(Otomasi 6 Periode)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01200" y="1828800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38360" y="1965960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9738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10928" y="2514600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(PCA)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630168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767328"/>
            <a:ext cx="457200" cy="457200"/>
          </a:xfrm>
          <a:prstGeom prst="ellipse">
            <a:avLst/>
          </a:prstGeom>
          <a:solidFill>
            <a:srgbClr val="16909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" y="431596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Modeling: GMM per Periode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0" y="3630168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880360" y="3767328"/>
            <a:ext cx="457200" cy="457200"/>
          </a:xfrm>
          <a:prstGeom prst="ellipse">
            <a:avLst/>
          </a:prstGeom>
          <a:solidFill>
            <a:srgbClr val="16909C"/>
          </a:solidFill>
          <a:ln/>
        </p:spPr>
      </p:sp>
      <p:sp>
        <p:nvSpPr>
          <p:cNvPr id="31" name="Text 29"/>
          <p:cNvSpPr/>
          <p:nvPr/>
        </p:nvSpPr>
        <p:spPr>
          <a:xfrm>
            <a:off x="28803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852928" y="431596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0" y="3630168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66360" y="3767328"/>
            <a:ext cx="457200" cy="457200"/>
          </a:xfrm>
          <a:prstGeom prst="ellipse">
            <a:avLst/>
          </a:prstGeom>
          <a:solidFill>
            <a:srgbClr val="16909C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138928" y="431596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Multi Level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15200" y="3630168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52360" y="3767328"/>
            <a:ext cx="457200" cy="457200"/>
          </a:xfrm>
          <a:prstGeom prst="ellipse">
            <a:avLst/>
          </a:prstGeom>
          <a:solidFill>
            <a:srgbClr val="16909C"/>
          </a:solidFill>
          <a:ln/>
        </p:spPr>
      </p:sp>
      <p:sp>
        <p:nvSpPr>
          <p:cNvPr id="39" name="Text 37"/>
          <p:cNvSpPr/>
          <p:nvPr/>
        </p:nvSpPr>
        <p:spPr>
          <a:xfrm>
            <a:off x="74523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24928" y="431596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Analisis LLM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601200" y="3630168"/>
            <a:ext cx="2157984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738360" y="3767328"/>
            <a:ext cx="457200" cy="457200"/>
          </a:xfrm>
          <a:prstGeom prst="ellipse">
            <a:avLst/>
          </a:prstGeom>
          <a:solidFill>
            <a:srgbClr val="16909C"/>
          </a:solidFill>
          <a:ln/>
        </p:spPr>
      </p:sp>
      <p:sp>
        <p:nvSpPr>
          <p:cNvPr id="43" name="Text 41"/>
          <p:cNvSpPr/>
          <p:nvPr/>
        </p:nvSpPr>
        <p:spPr>
          <a:xfrm>
            <a:off x="97383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710928" y="431596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Strategi Prediktif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CA8A5A07-F265-CB44-B170-6836D5286D37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PENELITIAN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2.362 Pendaftar Tervalidasi, Enam Periode Akademik 2019–2024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91640"/>
          <a:ext cx="69494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635240" y="1783080"/>
            <a:ext cx="4114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3460"/>
                </a:solidFill>
              </a:rPr>
              <a:t>Pre COVID (2019)</a:t>
            </a:r>
            <a:endParaRPr lang="en-US" sz="1300" dirty="0"/>
          </a:p>
          <a:p>
            <a:pPr marL="0" indent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</a:rPr>
              <a:t>146 pendaftar — baseline homogen.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94F37"/>
                </a:solidFill>
              </a:rPr>
              <a:t>COVID Crisis (2020–2021)</a:t>
            </a:r>
            <a:endParaRPr lang="en-US" sz="1300" dirty="0"/>
          </a:p>
          <a:p>
            <a:pPr marL="0" indent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</a:rPr>
              <a:t>+87,7% lalu +9,9% — lonjakan tak terduga, bukan penurunan seperti tren global.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6909C"/>
                </a:solidFill>
              </a:rPr>
              <a:t>Recovery (2022–2024)</a:t>
            </a:r>
            <a:endParaRPr lang="en-US" sz="13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Puncak 680 (2023, +48,5%), lalu koreksi normalisasi ke 503 (2024).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E52F1BBF-9156-EA4A-AFEC-29D587F22874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F346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PENELITIAN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Dominasi Program Berbasis Teknologi Informasi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91640"/>
          <a:ext cx="11247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C70CDBB8-0F9A-E04D-BB09-009AB8884D6C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PENELITIAN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Jumlah Komponen Optimal (K) Bervariasi Antar Periode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6858000" cy="402336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Optimal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COVID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Crisis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Crisis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143.514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214.845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153.715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3736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965960"/>
            <a:ext cx="3611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3460"/>
                </a:solidFill>
              </a:rPr>
              <a:t>Temuan Kunci</a:t>
            </a:r>
            <a:endParaRPr lang="en-US" sz="14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K tidak seragam: bervariasi 2019→K2, 2020→K3, 2021→K2, 2022→K2, 2023→K5, 2024→K4.</a:t>
            </a:r>
            <a:endParaRPr lang="en-US" sz="14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Rentang K (2–5) menunjukkan kompleksitas struktur segmen berfluktuasi mengikuti fase COVID Crisis dan Recovery.</a:t>
            </a:r>
            <a:endParaRPr lang="en-US" sz="14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Silhouette Score tertinggi 2019 (0,0883) sempat negatif di 2020–2021 — indikasi overlap klaster tinggi saat krisis.</a:t>
            </a:r>
            <a:endParaRPr lang="en-US" sz="1400" dirty="0"/>
          </a:p>
        </p:txBody>
      </p:sp>
      <p:sp>
        <p:nvSpPr>
          <p:cNvPr id="5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DCDF7C13-5DF0-BC4A-B7D6-A625BE59E506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94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94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PENELITIAN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dari 5 Transisi Antar Periode Adalah Structural Break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94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 &lt; 0,30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structural break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(cross-prediction)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94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10,07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74720" y="3063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drift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→ 2020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94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14,88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355080" y="3063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drift tertinggi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→ 2024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19202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148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94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235440" y="3063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konvergensi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monotonik yang ditemukan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drift pada transisi 2023→2024 berkaitan dengan kemunculan D3 Akuntansi sebagai program studi dominan baru — bukan tanda stabilisasi. Implikasi: strategi rekrutmen perlu disusun adaptif per periode, bukan mengasumsikan profil segmen yang persisten.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4946125-6357-634B-A2E7-3F87CADD1D4E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MULTI LEVEL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GMM, Bukan K-Means?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3840480"/>
        </p:xfrm>
        <a:graphic>
          <a:graphicData uri="http://schemas.openxmlformats.org/drawingml/2006/table">
            <a:tbl>
              <a:tblPr/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lebih tinggi numerik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Konsekuensi asumsi klaster sferis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Clustering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GMM: posterior probability per observasi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Reasoning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Mendukung otomasi 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Proyeksi Segmen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90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 pendaftar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Mendukung perencanaan strategik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konvensional lebih tinggi pada K-Means karena mengoptimalkan klaster sferis terpisah tegas. GMM unggul pada kemampuan yang tidak bisa dipenuhi K-Means: soft clustering, posterior probability, dan basis otomasi LLM — nilai tambah utama penelitian ini.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DC81CFCB-3148-6C45-B7D4-08EF1C04CD2A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F346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KLASTER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Evolusi Profil Klaster Sepanjang Siklus Pandemi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1188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611880" cy="10972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 COVID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· 146 pendaftar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klaster sangat timpang: 98% dominan homogen, 2% minoritas — mencerminkan pasar rekrutmen yang stabil sebelum guncangan eksternal.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61188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737360"/>
            <a:ext cx="3611880" cy="109728"/>
          </a:xfrm>
          <a:prstGeom prst="rect">
            <a:avLst/>
          </a:prstGeom>
          <a:solidFill>
            <a:srgbClr val="E94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4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 Crisis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2020–2021 · 274–301 pendaftar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26280" y="31089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pendaftar tak terduga, didorong pergeseran tenaga kerja industri batik/manufaktur Pekalongan ke jalur pendidikan tinggi.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61188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737360"/>
            <a:ext cx="3611880" cy="109728"/>
          </a:xfrm>
          <a:prstGeom prst="rect">
            <a:avLst/>
          </a:prstGeom>
          <a:solidFill>
            <a:srgbClr val="16909C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57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9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2104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 · 458–680 pendaftar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31089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segmen paling kompleks (K hingga 5), momentum pertumbuhan tertinggi pada profil vokasi &amp; literasi digital.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BD4C507-8916-7C48-9127-321B330D75C1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LLM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Angka Klaster ke Narasi Manajerial yang Actionable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LOKAL — Ollama / Llama 3.2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Memproses data mentah calon mahasiswa on-premise.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privasi PII — data individual tidak pernah dikirim keluar institusi.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statistik klaster teragregasi &amp; anonim.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CLOUD — via OpenRouter Proxy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utama: nvidia/minimax-m2.7, fallback deepseek-v4-flash-free.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kausal atas metadata teragregasi — bukan data individual.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persona klaster &amp; ringkasan naratif otomatis untuk tim PMB.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7A522488-670A-C742-8286-1C19A213157E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F346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Rekrutmen Prediktif &amp; Personalisasi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69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pendaftar 2025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segmen GMM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20116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69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 / TikTok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0" y="3017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prioritas untuk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IT &amp; teknologi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0116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69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Bimbingan</a:t>
            </a:r>
            <a:endParaRPr lang="en-US" sz="24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69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Konseling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0" y="3017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prioritas untuk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non-IT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diferensiasi channel pemasaran telah divalidasi selaras dengan pola perilaku klaster hasil GMM, sehingga alokasi anggaran promosi institusi menjadi lebih tepat sasaran. </a:t>
            </a: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berikutnya: wilayah Kabupaten Pemalang dan Batang, dengan pendekatan media sosial interaktif untuk lulusan SMK/kejuruan.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1D441C6-D3C5-D945-83E9-4481C1D84C9E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Pakar terhadap Output Sistem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3931920"/>
          </a:xfrm>
          <a:prstGeom prst="roundRect">
            <a:avLst>
              <a:gd name="adj" fmla="val 1860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3460"/>
                </a:solidFill>
              </a:rPr>
              <a:t>Prosedur</a:t>
            </a:r>
            <a:endParaRPr lang="en-US" sz="1500" dirty="0"/>
          </a:p>
          <a:p>
            <a:pPr marL="0" indent="0">
              <a:lnSpc>
                <a:spcPts val="190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Hasil klaster, persona, dan rekomendasi strategi yang dihasilkan pipeline direview oleh pakar/praktisi bidang manajemen rekrutmen dan data science untuk menilai relevansi, akurasi, dan kegunaan praktis.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3460"/>
                </a:solidFill>
              </a:rPr>
              <a:t>Temuan Utama</a:t>
            </a:r>
            <a:endParaRPr lang="en-US" sz="15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</a:rPr>
              <a:t>Rekomendasi diferensiasi channel pemasaran (Instagram/TikTok vs bimbingan konseling) dinilai selaras secara akurat dengan pola perilaku klaster yang ditemukan oleh GMM — memperkuat validitas kegunaan praktis sistem bagi tim PMB.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DE91BC85-C62B-DD4B-8B41-3A381D2D0C32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94F3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94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Temuan Utama Penelitian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E94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801368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Integrasi IndoBERT + GMM Terbukti Efektif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E3"/>
                </a:solidFill>
              </a:rPr>
              <a:t>K=2 teridentifikasi konsisten di seluruh 6 periode; posterior probability berkisar 0,514–1,000. Segmen fundamental: mayoritas homogen (98%+) &amp; minoritas spesifik.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E94F3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3310128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Struktur Segmen Tidak Stabil Antar Periode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E3"/>
                </a:solidFill>
              </a:rPr>
              <a:t>4 dari 5 transisi merupakan structural break (ARI &lt; 0,30) tanpa tren konvergensi — strategi rekrutmen perlu adaptif per periode.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892040"/>
            <a:ext cx="502920" cy="502920"/>
          </a:xfrm>
          <a:prstGeom prst="ellipse">
            <a:avLst/>
          </a:prstGeom>
          <a:solidFill>
            <a:srgbClr val="E94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4818888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Hybrid Cognitive Pipeline Terbukti Aplikatif</a:t>
            </a:r>
            <a:endParaRPr lang="en-US" sz="16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E3"/>
                </a:solidFill>
              </a:rPr>
              <a:t>Menjembatani analisis teknis dan strategi rekrutmen; rekomendasi channel selaras akurat dengan pola perilaku klaster GMM.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1023DD3-4462-7242-AADE-C454A974CC81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909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Praktis dan Arah Penelitian Lanjutan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0" cy="4206240"/>
          </a:xfrm>
          <a:prstGeom prst="rect">
            <a:avLst/>
          </a:prstGeom>
          <a:solidFill>
            <a:srgbClr val="16909C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 — Bagi Manajemen ITSNU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Operasionalkan proyeksi klaster 2025 sebagai basis RKA promosi.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Sesuaikan bauran komunikasi dengan momentum klaster vokasi &amp; digital pasca-pandemi.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alokasi promosi media sosial interaktif di Kabupaten Pemalang &amp; Batang.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86400" cy="4206240"/>
          </a:xfrm>
          <a:prstGeom prst="rect">
            <a:avLst/>
          </a:prstGeom>
          <a:solidFill>
            <a:srgbClr val="0F346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 — Bagi Penelitian Lanjutan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Dirichlet Process Mixture Model (DPMM) untuk penentuan K otomatis secara inferensial.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fine-tuning Small Language Model (Llama-3-8B) on-premise untuk mengurangi ketergantungan API cloud.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C82F6C1E-DE08-C04C-89C6-87339FFF10B8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F346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16909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Mujibul Hakim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</a:rPr>
              <a:t>Magister Teknologi Informasi · UNISBANK Semarang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89513D6C-3463-AC48-8EBE-46ED21230333}"/>
              </a:ext>
            </a:extLst>
          </p:cNvPr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Segmentasi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Probabilistik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MTI — Workshop 2 (INTIS)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1498</Words>
  <Application>Microsoft Macintosh PowerPoint</Application>
  <PresentationFormat>Layar Lebar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3</cp:revision>
  <dcterms:created xsi:type="dcterms:W3CDTF">2026-07-15T04:10:50Z</dcterms:created>
  <dcterms:modified xsi:type="dcterms:W3CDTF">2026-07-15T05:04:14Z</dcterms:modified>
</cp:coreProperties>
</file>