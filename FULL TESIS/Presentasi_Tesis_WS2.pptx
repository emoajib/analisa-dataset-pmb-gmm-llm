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Strategi Segmentasi Probabilistik Calon Mahasiswa</a:t>
            </a:r>
          </a:p>
          <a:p>
            <a:r>
              <a:t>Menggunakan GMM &amp; LLM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Oleh: Mujibul Hakim (25.01.85.7010)</a:t>
            </a:r>
          </a:p>
          <a:p>
            <a:r>
              <a:t>Magister Teknologi Informasi, ITSNU Pekalongan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penerimaan mahasiswa baru (PMB) ITSNU Pekalongan belum dimanfaatkan secara optimal untuk merumuskan strategi pemasaran.</a:t>
            </a:r>
          </a:p>
          <a:p>
            <a:pPr>
              <a:defRPr sz="2200"/>
            </a:pPr>
            <a:r>
              <a:t>Segmentasi saat ini masih bersifat deskriptif dasar, belum menggunakan pemodelan Machine Learning.</a:t>
            </a:r>
          </a:p>
          <a:p>
            <a:pPr>
              <a:defRPr sz="2200"/>
            </a:pPr>
            <a:r>
              <a:t>Dibutuhkan pendekatan Hybrid yang menggabungkan:</a:t>
            </a:r>
          </a:p>
          <a:p>
            <a:pPr lvl="1">
              <a:defRPr sz="2000"/>
            </a:pPr>
            <a:r>
              <a:t>Natural Language Processing (IndoBERT) untuk data teks</a:t>
            </a:r>
          </a:p>
          <a:p>
            <a:pPr lvl="1">
              <a:defRPr sz="2000"/>
            </a:pPr>
            <a:r>
              <a:t>Gaussian Mixture Model (GMM) untuk klasterisasi probabilistik</a:t>
            </a:r>
          </a:p>
          <a:p>
            <a:pPr lvl="1">
              <a:defRPr sz="2000"/>
            </a:pPr>
            <a:r>
              <a:t>Large Language Model (LLM) untuk mendefinisikan persona mahasiswa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&amp; Batasan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Rumusan Masalah:</a:t>
            </a:r>
          </a:p>
          <a:p>
            <a:pPr lvl="1">
              <a:defRPr sz="2000"/>
            </a:pPr>
            <a:r>
              <a:t>Bagaimana mengintegrasikan model bahasa IndoBERT dengan algoritma GMM untuk segmentasi profil mahasiswa?</a:t>
            </a:r>
          </a:p>
          <a:p>
            <a:pPr lvl="1">
              <a:defRPr sz="2000"/>
            </a:pPr>
            <a:r>
              <a:t>Bagaimana GMM menangani variabilitas demografis berbasis Time-Series (2019-2024)?</a:t>
            </a:r>
          </a:p>
          <a:p>
            <a:pPr lvl="1">
              <a:defRPr sz="2000"/>
            </a:pPr>
            <a:r>
              <a:t>Bagaimana performa LLM dalam mengotomasi pelabelan profil (persona) klaster?</a:t>
            </a:r>
          </a:p>
          <a:p>
            <a:pPr>
              <a:defRPr sz="2200"/>
            </a:pPr>
            <a:r>
              <a:t>Batasan Masalah:</a:t>
            </a:r>
          </a:p>
          <a:p>
            <a:pPr lvl="1">
              <a:defRPr sz="2000"/>
            </a:pPr>
            <a:r>
              <a:t>Menggunakan data sekunder PMB ITSNU tahun 2019 hingga 2024.</a:t>
            </a:r>
          </a:p>
          <a:p>
            <a:pPr lvl="1">
              <a:defRPr sz="2000"/>
            </a:pPr>
            <a:r>
              <a:t>Fokus pada fitur tekstual (Nama, Alamat, Asal Sekolah, Kab/Kota).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 Penelitian: CRISP-DM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Penelitian ini mengadopsi standar Cross-Industry Standard Process for Data Mining (CRISP-DM):</a:t>
            </a:r>
          </a:p>
          <a:p>
            <a:pPr>
              <a:defRPr sz="2200"/>
            </a:pPr>
            <a:r>
              <a:t>  1. Business Understanding: Identifikasi kebutuhan PMB</a:t>
            </a:r>
          </a:p>
          <a:p>
            <a:pPr>
              <a:defRPr sz="2200"/>
            </a:pPr>
            <a:r>
              <a:t>  2. Data Understanding: Eksplorasi atribut data (2019-2024)</a:t>
            </a:r>
          </a:p>
          <a:p>
            <a:pPr>
              <a:defRPr sz="2200"/>
            </a:pPr>
            <a:r>
              <a:t>  3. Data Preparation: Cleansing &amp; Ekstraksi Teks</a:t>
            </a:r>
          </a:p>
          <a:p>
            <a:pPr>
              <a:defRPr sz="2200"/>
            </a:pPr>
            <a:r>
              <a:t>  4. Modeling: IndoBERT Embedding &amp; GMM Clustering</a:t>
            </a:r>
          </a:p>
          <a:p>
            <a:pPr>
              <a:defRPr sz="2200"/>
            </a:pPr>
            <a:r>
              <a:t>  5. Evaluation: K-Scan (BIC/AIC/Silhouette) &amp; ARI Time-Series</a:t>
            </a:r>
          </a:p>
          <a:p>
            <a:pPr>
              <a:defRPr sz="2200"/>
            </a:pPr>
            <a:r>
              <a:t>  6. Deployment: Pembuatan Dashboard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Sistem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Sistem dibangun dengan arsitektur Hybrid:</a:t>
            </a:r>
          </a:p>
          <a:p>
            <a:pPr>
              <a:defRPr sz="2200"/>
            </a:pPr>
            <a:r>
              <a:t>1. Ekstraksi Fitur Teks: IndoBERT-Base-P1 mengubah data teks menjadi vektor 768 dimensi.</a:t>
            </a:r>
          </a:p>
          <a:p>
            <a:pPr>
              <a:defRPr sz="2200"/>
            </a:pPr>
            <a:r>
              <a:t>2. Reduksi Dimensi: PCA mereduksi 768D menjadi komponen utama untuk optimasi.</a:t>
            </a:r>
          </a:p>
          <a:p>
            <a:pPr>
              <a:defRPr sz="2200"/>
            </a:pPr>
            <a:r>
              <a:t>3. Klasterisasi: Gaussian Mixture Model (GMM) membentuk segmentasi berdasarkan probabilitas.</a:t>
            </a:r>
          </a:p>
          <a:p>
            <a:pPr>
              <a:defRPr sz="2200"/>
            </a:pPr>
            <a:r>
              <a:t>4. Generasi Persona: Prompt Engineering pada Ollama (LLM lokal) untuk membaca deskripsi statistik klaster dan menghasilkan 'Persona' target audiens.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Evaluasi Klaster (K-Scan)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Penentuan jumlah klaster optimal (K) dievaluasi menggunakan:</a:t>
            </a:r>
          </a:p>
          <a:p>
            <a:pPr lvl="1">
              <a:defRPr sz="2000"/>
            </a:pPr>
            <a:r>
              <a:t>Bayesian Information Criterion (BIC)</a:t>
            </a:r>
          </a:p>
          <a:p>
            <a:pPr lvl="1">
              <a:defRPr sz="2000"/>
            </a:pPr>
            <a:r>
              <a:t>Akaike Information Criterion (AIC)</a:t>
            </a:r>
          </a:p>
          <a:p>
            <a:pPr lvl="1">
              <a:defRPr sz="2000"/>
            </a:pPr>
            <a:r>
              <a:t>Silhouette Coefficient</a:t>
            </a:r>
          </a:p>
          <a:p>
            <a:pPr>
              <a:defRPr sz="2200"/>
            </a:pPr>
            <a:r>
              <a:t>Hasil:</a:t>
            </a:r>
          </a:p>
          <a:p>
            <a:pPr>
              <a:defRPr sz="2200"/>
            </a:pPr>
            <a:r>
              <a:t>Grafik BIC dan AIC menunjukkan titik elbow/penurunan drastis pada rentang K=3 hingga K=5. Evaluasi kestabilan menunjukkan K yang optimal adalah 4 klaster utama.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 &amp; Persona Klaster (LLM)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LLM mengidentifikasi 4 persona utama calon mahasiswa:</a:t>
            </a:r>
          </a:p>
          <a:p>
            <a:pPr lvl="1">
              <a:defRPr sz="2000"/>
            </a:pPr>
            <a:r>
              <a:t>Klaster 0: Mahasiswa Teknis Lokal (Dominan prodi Teknologi Informasi dari SMK lokal).</a:t>
            </a:r>
          </a:p>
          <a:p>
            <a:pPr lvl="1">
              <a:defRPr sz="2000"/>
            </a:pPr>
            <a:r>
              <a:t>Klaster 1: Pencari Stabilitas Karir (Dominan prodi K3 dari SMA/SMK dengan ketertarikan industri).</a:t>
            </a:r>
          </a:p>
          <a:p>
            <a:pPr lvl="1">
              <a:defRPr sz="2000"/>
            </a:pPr>
            <a:r>
              <a:t>Klaster 2: Penggerak Ekonomi Desa (Fokus prodi Agribisnis dari MA/SMA pinggiran).</a:t>
            </a:r>
          </a:p>
          <a:p>
            <a:pPr lvl="1">
              <a:defRPr sz="2000"/>
            </a:pPr>
            <a:r>
              <a:t>Klaster 3: Inovator Lintas Disiplin (Peminat prodi Teknik Industri dari wilayah urban).</a:t>
            </a:r>
          </a:p>
          <a:p>
            <a:pPr>
              <a:defRPr sz="2200"/>
            </a:pPr>
            <a:r>
              <a:t>[Tempatkan Tabel 4.18 Perbandingan LLM di sini]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Stabilitas Model (Time-Series 2019-2024)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Evaluasi konsistensi profil lintas waktu menggunakan Adjusted Rand Index (ARI):</a:t>
            </a:r>
          </a:p>
          <a:p>
            <a:pPr lvl="1">
              <a:defRPr sz="2000"/>
            </a:pPr>
            <a:r>
              <a:t>Model menunjukkan stabilitas profil dari tahun ke tahun meskipun terdapat fluktuasi jumlah pendaftar.</a:t>
            </a:r>
          </a:p>
          <a:p>
            <a:pPr lvl="1">
              <a:defRPr sz="2000"/>
            </a:pPr>
            <a:r>
              <a:t>Terjadi pergeseran centroid (Centroid Drift) minor pada tahun 2021-2022 akibat efek pandemi.</a:t>
            </a:r>
          </a:p>
          <a:p>
            <a:pPr lvl="1">
              <a:defRPr sz="2000"/>
            </a:pPr>
            <a:r>
              <a:t>Secara keseluruhan, GMM mampu beradaptasi dengan distribusi baru tanpa kehilangan bentuk klaster utama.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Integrasi IndoBERT dan GMM berhasil mengidentifikasi 4 klaster tersembunyi dengan skor evaluasi yang solid (Silhouette &gt; 0.4 pada reduksi PCA).</a:t>
            </a:r>
          </a:p>
          <a:p>
            <a:pPr>
              <a:defRPr sz="2200"/>
            </a:pPr>
            <a:r>
              <a:t>2. Otomasi pelabelan menggunakan LLM lokal (Ollama) terbukti akurat dalam menghasilkan persona marketing yang deskriptif dan logis.</a:t>
            </a:r>
          </a:p>
          <a:p>
            <a:pPr>
              <a:defRPr sz="2200"/>
            </a:pPr>
            <a:r>
              <a:t>3. Evaluasi Time-Series menunjukkan strategi segmentasi ini sangat andal (robust) untuk digunakan memproyeksi pendaftar di masa depan.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Saran &amp; Rekomendasi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Rekomendasi Taktis PMB:</a:t>
            </a:r>
          </a:p>
          <a:p>
            <a:pPr lvl="1">
              <a:defRPr sz="2000"/>
            </a:pPr>
            <a:r>
              <a:t>Klaster Lokal (TI): Gunakan media sosial (Instagram) dengan konten teknologi &amp; sertifikasi.</a:t>
            </a:r>
          </a:p>
          <a:p>
            <a:pPr lvl="1">
              <a:defRPr sz="2000"/>
            </a:pPr>
            <a:r>
              <a:t>Klaster K3: Bekerjasama dengan kawasan industri untuk sosialisasi K3.</a:t>
            </a:r>
          </a:p>
          <a:p>
            <a:pPr lvl="1">
              <a:defRPr sz="2000"/>
            </a:pPr>
            <a:r>
              <a:t>Klaster Agribisnis: Pendekatan langsung ke desa/sekolah pinggiran tentang digitalisasi tani.</a:t>
            </a:r>
          </a:p>
          <a:p>
            <a:pPr>
              <a:defRPr sz="2200"/>
            </a:pPr>
            <a:r>
              <a:t>Saran Penelitian Lanjutan:</a:t>
            </a:r>
          </a:p>
          <a:p>
            <a:pPr lvl="1">
              <a:defRPr sz="2000"/>
            </a:pPr>
            <a:r>
              <a:t>Mengintegrasikan data akademik (nilai rapor) dan sosial ekonomi.</a:t>
            </a:r>
          </a:p>
          <a:p>
            <a:pPr lvl="1">
              <a:defRPr sz="2000"/>
            </a:pPr>
            <a:r>
              <a:t>Membandingkan GMM dengan arsitektur Deep Clustering (misal: DEC).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Terima Kasih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Sesi Tanya Jawab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