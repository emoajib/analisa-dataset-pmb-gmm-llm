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63" r:id="rId4"/>
    <p:sldId id="258" r:id="rId5"/>
    <p:sldId id="259" r:id="rId6"/>
    <p:sldId id="260" r:id="rId7"/>
    <p:sldId id="261"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064"/>
    <p:restoredTop sz="94676"/>
  </p:normalViewPr>
  <p:slideViewPr>
    <p:cSldViewPr snapToGrid="0" snapToObjects="1">
      <p:cViewPr varScale="1">
        <p:scale>
          <a:sx n="160" d="100"/>
          <a:sy n="160" d="100"/>
        </p:scale>
        <p:origin x="21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1746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Assalamualaikum Warahmatullahi Wabarakatuh. Yang terhormat Tim Reviewer dan Dosen Pembimbing. Perkenalkan saya Mujibul Hakim. Pada kesempatan ini saya akan mempresentasikan tesis saya yang berjudul 'Strategi Segmentasi Probabilistik Calon Mahasiswa Menggunakan GMM dan LLM'.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Latar belakang penelitian ini bermula dari belum optimalnya data PMB di ITSNU Pekalongan. Oleh karena itu, rumusan masalah berfokus pada 4 hal: Pertama, pembentukan klaster GMM berbasis IndoBERT. Kedua, evaluasi stabilitas klaster saat pandemi. Ketiga, otomasi generasi persona dengan LLM. Dan keempat, validasi pakar. Batasan masalah hanya menggunakan data sekunder dari 2019 hingga 2024.</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Untuk menjawab rumusan masalah tersebut, penelitian ini mengadopsi standar metodologi CRISP-DM dengan arsitektur Hybrid. Data teks pendaftar pertama-tama diubah menjadi angka 768 dimensi oleh IndoBERT, lalu direduksi menggunakan PCA, dan diklasterisasi secara probabilistik menggunakan Gaussian Mixture Model. Hasil matematis dari GMM ini kemudian diproses oleh LLM OpenRouter untuk menghasilkan persona bahasa manusia.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91403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Masuk ke hasil pertama. Integrasi teks IndoBERT dengan GMM berhasil membentuk segmentasi probabilitas yang dinamis. Dari analisis K-Scan menggunakan grafik Silhouette, kita bisa melihat bahwa jumlah klaster optimal bervariasi setiap tahunnya, dan perlahan mengerucut menjadi 2 klaster utama di tahun 2023. GMM terbukti sangat efektif mengukur probabilitas tumpang tindih segmen ini.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Namun, hasil paling mengejutkan terlihat pada analisis stabilitas Time-Series. Menggunakan Adjusted Rand Index (ARI), terbukti bahwa asumsi pasar pendidikan itu statis adalah keliru. Terjadi pergeseran ekstrem atau structural break pada transisi tahun 2019 ke 2020 akibat pandemi COVID-19 dengan nilai ARI negatif. GMM berhasil menangkap pergeseran centroid ini secara akurat.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Setelah klaster terbentuk, sistem LLM Hybrid Cognitive Pipeline, khususnya model OpenRouter Llama 3.3, digunakan untuk menerjemahkan angka kuantitatif tersebut menjadi narasi persona. LLM mampu mendeskripsikan siapa sebenarnya audiens kita di setiap klaster, dan hasil narasi ini telah dinyatakan sangat valid berdasarkan penilaian Expert Judgement atau pakar.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Sebagai penutup, tiga kesimpulan utama penelitian ini adalah: Pertama, GMM dan IndoBERT akurat memetakan profil tanpa paksaan kategori mutlak. Kedua, pasar PMB sangat rentan terhadap perubahan dinamis sehingga butuh strategi adaptif. Ketiga, LLM sangat valid merumuskan narasi manajerial. Ke depannya, pihak kampus dapat memanfaatkan dashboard cerdas ini untuk merancang kampanye marketing secara presisi per klaster.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20895"/>
            <a:ext cx="7772400" cy="1470025"/>
          </a:xfrm>
        </p:spPr>
        <p:txBody>
          <a:bodyPr>
            <a:normAutofit fontScale="90000"/>
          </a:bodyPr>
          <a:lstStyle/>
          <a:p>
            <a:pPr>
              <a:defRPr sz="3600"/>
            </a:pPr>
            <a:r>
              <a:rPr dirty="0" err="1"/>
              <a:t>Strategi</a:t>
            </a:r>
            <a:r>
              <a:rPr dirty="0"/>
              <a:t> </a:t>
            </a:r>
            <a:r>
              <a:rPr dirty="0" err="1"/>
              <a:t>Segmentasi</a:t>
            </a:r>
            <a:r>
              <a:rPr dirty="0"/>
              <a:t> </a:t>
            </a:r>
            <a:r>
              <a:rPr dirty="0" err="1"/>
              <a:t>Probabilistik</a:t>
            </a:r>
            <a:r>
              <a:rPr dirty="0"/>
              <a:t> </a:t>
            </a:r>
            <a:r>
              <a:rPr dirty="0" err="1"/>
              <a:t>Calon</a:t>
            </a:r>
            <a:r>
              <a:rPr dirty="0"/>
              <a:t> </a:t>
            </a:r>
            <a:r>
              <a:rPr dirty="0" err="1"/>
              <a:t>Mahasiswa</a:t>
            </a:r>
            <a:endParaRPr dirty="0"/>
          </a:p>
          <a:p>
            <a:r>
              <a:rPr dirty="0" err="1"/>
              <a:t>Menggunakan</a:t>
            </a:r>
            <a:r>
              <a:rPr dirty="0"/>
              <a:t> GMM &amp; LLM</a:t>
            </a:r>
          </a:p>
        </p:txBody>
      </p:sp>
      <p:sp>
        <p:nvSpPr>
          <p:cNvPr id="3" name="Subtitle 2"/>
          <p:cNvSpPr>
            <a:spLocks noGrp="1"/>
          </p:cNvSpPr>
          <p:nvPr>
            <p:ph type="subTitle" idx="1"/>
          </p:nvPr>
        </p:nvSpPr>
        <p:spPr/>
        <p:txBody>
          <a:bodyPr>
            <a:normAutofit/>
          </a:bodyPr>
          <a:lstStyle/>
          <a:p>
            <a:r>
              <a:rPr sz="1600" dirty="0"/>
              <a:t>Oleh: </a:t>
            </a:r>
            <a:r>
              <a:rPr sz="1600" dirty="0" err="1"/>
              <a:t>Mujibul</a:t>
            </a:r>
            <a:r>
              <a:rPr sz="1600" dirty="0"/>
              <a:t> Hakim (25.01.85.7010)</a:t>
            </a:r>
          </a:p>
          <a:p>
            <a:r>
              <a:rPr sz="1600" dirty="0"/>
              <a:t>Magister </a:t>
            </a:r>
            <a:r>
              <a:rPr sz="1600" dirty="0" err="1"/>
              <a:t>Teknologi</a:t>
            </a:r>
            <a:r>
              <a:rPr sz="1600" dirty="0"/>
              <a:t> </a:t>
            </a:r>
            <a:r>
              <a:rPr sz="1600" dirty="0" err="1"/>
              <a:t>Informasi</a:t>
            </a:r>
            <a:r>
              <a:rPr sz="1600" dirty="0"/>
              <a:t>, ITSNU </a:t>
            </a:r>
            <a:r>
              <a:rPr sz="1600" dirty="0" err="1"/>
              <a:t>Pekalongan</a:t>
            </a:r>
            <a:endParaRPr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1859"/>
            <a:ext cx="8229600" cy="1143000"/>
          </a:xfrm>
        </p:spPr>
        <p:txBody>
          <a:bodyPr>
            <a:normAutofit/>
          </a:bodyPr>
          <a:lstStyle/>
          <a:p>
            <a:r>
              <a:rPr sz="3600" dirty="0" err="1"/>
              <a:t>Rumusan</a:t>
            </a:r>
            <a:r>
              <a:rPr sz="3600" dirty="0"/>
              <a:t> &amp; Batasan </a:t>
            </a:r>
            <a:r>
              <a:rPr sz="3600" dirty="0" err="1"/>
              <a:t>Masalah</a:t>
            </a:r>
            <a:endParaRPr sz="3600" dirty="0"/>
          </a:p>
        </p:txBody>
      </p:sp>
      <p:sp>
        <p:nvSpPr>
          <p:cNvPr id="3" name="Content Placeholder 2"/>
          <p:cNvSpPr>
            <a:spLocks noGrp="1"/>
          </p:cNvSpPr>
          <p:nvPr>
            <p:ph idx="1"/>
          </p:nvPr>
        </p:nvSpPr>
        <p:spPr>
          <a:xfrm>
            <a:off x="135173" y="2035534"/>
            <a:ext cx="4572000" cy="0"/>
          </a:xfrm>
        </p:spPr>
        <p:txBody>
          <a:bodyPr>
            <a:noAutofit/>
          </a:bodyPr>
          <a:lstStyle/>
          <a:p>
            <a:pPr>
              <a:defRPr sz="1800"/>
            </a:pPr>
            <a:endParaRPr lang="en-US" sz="1050" dirty="0"/>
          </a:p>
          <a:p>
            <a:pPr>
              <a:defRPr sz="1800"/>
            </a:pPr>
            <a:r>
              <a:rPr sz="1050" dirty="0" err="1"/>
              <a:t>Rumusan</a:t>
            </a:r>
            <a:r>
              <a:rPr sz="1050" dirty="0"/>
              <a:t> </a:t>
            </a:r>
            <a:r>
              <a:rPr sz="1050" dirty="0" err="1"/>
              <a:t>Masalah</a:t>
            </a:r>
            <a:r>
              <a:rPr sz="1050" dirty="0"/>
              <a:t>:</a:t>
            </a:r>
          </a:p>
          <a:p>
            <a:pPr>
              <a:defRPr sz="1800"/>
            </a:pPr>
            <a:r>
              <a:rPr sz="1050" dirty="0"/>
              <a:t>1. </a:t>
            </a:r>
            <a:r>
              <a:rPr sz="1050" dirty="0" err="1"/>
              <a:t>Bagaimana</a:t>
            </a:r>
            <a:r>
              <a:rPr sz="1050" dirty="0"/>
              <a:t> </a:t>
            </a:r>
            <a:r>
              <a:rPr sz="1050" dirty="0" err="1"/>
              <a:t>karakteristik</a:t>
            </a:r>
            <a:r>
              <a:rPr sz="1050" dirty="0"/>
              <a:t> </a:t>
            </a:r>
            <a:r>
              <a:rPr sz="1050" dirty="0" err="1"/>
              <a:t>segmentasi</a:t>
            </a:r>
            <a:r>
              <a:rPr sz="1050" dirty="0"/>
              <a:t> GMM </a:t>
            </a:r>
            <a:r>
              <a:rPr sz="1050" dirty="0" err="1"/>
              <a:t>berbasis</a:t>
            </a:r>
            <a:r>
              <a:rPr sz="1050" dirty="0"/>
              <a:t> </a:t>
            </a:r>
            <a:r>
              <a:rPr sz="1050" dirty="0" err="1"/>
              <a:t>IndoBERT</a:t>
            </a:r>
            <a:r>
              <a:rPr sz="1050" dirty="0"/>
              <a:t> 2019–2024?</a:t>
            </a:r>
          </a:p>
          <a:p>
            <a:pPr>
              <a:defRPr sz="1800"/>
            </a:pPr>
            <a:r>
              <a:rPr sz="1050" dirty="0"/>
              <a:t>2. </a:t>
            </a:r>
            <a:r>
              <a:rPr sz="1050" dirty="0" err="1"/>
              <a:t>Bagaimana</a:t>
            </a:r>
            <a:r>
              <a:rPr sz="1050" dirty="0"/>
              <a:t> </a:t>
            </a:r>
            <a:r>
              <a:rPr sz="1050" dirty="0" err="1"/>
              <a:t>evolusi</a:t>
            </a:r>
            <a:r>
              <a:rPr sz="1050" dirty="0"/>
              <a:t> </a:t>
            </a:r>
            <a:r>
              <a:rPr sz="1050" dirty="0" err="1"/>
              <a:t>stabilitas</a:t>
            </a:r>
            <a:r>
              <a:rPr sz="1050" dirty="0"/>
              <a:t> </a:t>
            </a:r>
            <a:r>
              <a:rPr sz="1050" dirty="0" err="1"/>
              <a:t>klaster</a:t>
            </a:r>
            <a:r>
              <a:rPr sz="1050" dirty="0"/>
              <a:t> (ARI, Jaccard) </a:t>
            </a:r>
            <a:r>
              <a:rPr sz="1050" dirty="0" err="1"/>
              <a:t>akibat</a:t>
            </a:r>
            <a:r>
              <a:rPr sz="1050" dirty="0"/>
              <a:t> </a:t>
            </a:r>
            <a:r>
              <a:rPr sz="1050" dirty="0" err="1"/>
              <a:t>pandemi</a:t>
            </a:r>
            <a:r>
              <a:rPr sz="1050" dirty="0"/>
              <a:t> COVID-19?</a:t>
            </a:r>
          </a:p>
          <a:p>
            <a:pPr>
              <a:defRPr sz="1800"/>
            </a:pPr>
            <a:r>
              <a:rPr sz="1050" dirty="0"/>
              <a:t>3. </a:t>
            </a:r>
            <a:r>
              <a:rPr sz="1050" dirty="0" err="1"/>
              <a:t>Bagaimana</a:t>
            </a:r>
            <a:r>
              <a:rPr sz="1050" dirty="0"/>
              <a:t> </a:t>
            </a:r>
            <a:r>
              <a:rPr sz="1050" dirty="0" err="1"/>
              <a:t>otomasi</a:t>
            </a:r>
            <a:r>
              <a:rPr sz="1050" dirty="0"/>
              <a:t> LLM (</a:t>
            </a:r>
            <a:r>
              <a:rPr sz="1050" dirty="0" err="1"/>
              <a:t>OpenRouter</a:t>
            </a:r>
            <a:r>
              <a:rPr sz="1050" dirty="0"/>
              <a:t>/Llama 3.3) </a:t>
            </a:r>
            <a:r>
              <a:rPr sz="1050" dirty="0" err="1"/>
              <a:t>mengoptimasi</a:t>
            </a:r>
            <a:r>
              <a:rPr sz="1050" dirty="0"/>
              <a:t> </a:t>
            </a:r>
            <a:r>
              <a:rPr sz="1050" dirty="0" err="1"/>
              <a:t>generasi</a:t>
            </a:r>
            <a:r>
              <a:rPr sz="1050" dirty="0"/>
              <a:t> persona?</a:t>
            </a:r>
          </a:p>
          <a:p>
            <a:pPr>
              <a:defRPr sz="1800"/>
            </a:pPr>
            <a:r>
              <a:rPr sz="1050" dirty="0"/>
              <a:t>4. </a:t>
            </a:r>
            <a:r>
              <a:rPr sz="1050" dirty="0" err="1"/>
              <a:t>Bagaimana</a:t>
            </a:r>
            <a:r>
              <a:rPr sz="1050" dirty="0"/>
              <a:t> </a:t>
            </a:r>
            <a:r>
              <a:rPr sz="1050" dirty="0" err="1"/>
              <a:t>validitas</a:t>
            </a:r>
            <a:r>
              <a:rPr sz="1050" dirty="0"/>
              <a:t> </a:t>
            </a:r>
            <a:r>
              <a:rPr sz="1050" dirty="0" err="1"/>
              <a:t>otomasi</a:t>
            </a:r>
            <a:r>
              <a:rPr sz="1050" dirty="0"/>
              <a:t> LLM </a:t>
            </a:r>
            <a:r>
              <a:rPr sz="1050" dirty="0" err="1"/>
              <a:t>berdasarkan</a:t>
            </a:r>
            <a:r>
              <a:rPr sz="1050" dirty="0"/>
              <a:t> </a:t>
            </a:r>
            <a:r>
              <a:rPr sz="1050" dirty="0" err="1"/>
              <a:t>penilaian</a:t>
            </a:r>
            <a:r>
              <a:rPr sz="1050" dirty="0"/>
              <a:t> </a:t>
            </a:r>
            <a:r>
              <a:rPr sz="1050" dirty="0" err="1"/>
              <a:t>pakar</a:t>
            </a:r>
            <a:r>
              <a:rPr sz="1050" dirty="0"/>
              <a:t> (Expert Judgement)?</a:t>
            </a:r>
          </a:p>
          <a:p>
            <a:pPr>
              <a:defRPr sz="1800"/>
            </a:pPr>
            <a:r>
              <a:rPr sz="1050" dirty="0"/>
              <a:t>Batasan:</a:t>
            </a:r>
          </a:p>
          <a:p>
            <a:pPr>
              <a:defRPr sz="1800"/>
            </a:pPr>
            <a:r>
              <a:rPr sz="1050" dirty="0" err="1"/>
              <a:t>Menggunakan</a:t>
            </a:r>
            <a:r>
              <a:rPr sz="1050" dirty="0"/>
              <a:t> data </a:t>
            </a:r>
            <a:r>
              <a:rPr sz="1050" dirty="0" err="1"/>
              <a:t>sekunder</a:t>
            </a:r>
            <a:r>
              <a:rPr sz="1050" dirty="0"/>
              <a:t> 2019-2024 (</a:t>
            </a:r>
            <a:r>
              <a:rPr sz="1050" dirty="0" err="1"/>
              <a:t>nama</a:t>
            </a:r>
            <a:r>
              <a:rPr sz="1050" dirty="0"/>
              <a:t>, </a:t>
            </a:r>
            <a:r>
              <a:rPr sz="1050" dirty="0" err="1"/>
              <a:t>asal</a:t>
            </a:r>
            <a:r>
              <a:rPr sz="1050" dirty="0"/>
              <a:t> </a:t>
            </a:r>
            <a:r>
              <a:rPr sz="1050" dirty="0" err="1"/>
              <a:t>sekolah</a:t>
            </a:r>
            <a:r>
              <a:rPr sz="1050" dirty="0"/>
              <a:t>, </a:t>
            </a:r>
            <a:r>
              <a:rPr sz="1050" dirty="0" err="1"/>
              <a:t>alamat</a:t>
            </a:r>
            <a:r>
              <a:rPr sz="1050" dirty="0"/>
              <a:t>) </a:t>
            </a:r>
            <a:r>
              <a:rPr sz="1050" dirty="0" err="1"/>
              <a:t>dan</a:t>
            </a:r>
            <a:r>
              <a:rPr sz="1050" dirty="0"/>
              <a:t> Hybrid Cognitive Pipeline LLM.</a:t>
            </a:r>
          </a:p>
        </p:txBody>
      </p:sp>
      <p:pic>
        <p:nvPicPr>
          <p:cNvPr id="4" name="Picture 3" descr="gambar_4_1_distribusi.png"/>
          <p:cNvPicPr>
            <a:picLocks noChangeAspect="1"/>
          </p:cNvPicPr>
          <p:nvPr/>
        </p:nvPicPr>
        <p:blipFill>
          <a:blip r:embed="rId3"/>
          <a:stretch>
            <a:fillRect/>
          </a:stretch>
        </p:blipFill>
        <p:spPr>
          <a:xfrm>
            <a:off x="5029200" y="1828800"/>
            <a:ext cx="3657600" cy="21945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err="1"/>
              <a:t>Metodologi</a:t>
            </a:r>
            <a:r>
              <a:rPr dirty="0"/>
              <a:t> </a:t>
            </a:r>
            <a:r>
              <a:rPr dirty="0" err="1"/>
              <a:t>Penelitian</a:t>
            </a:r>
            <a:r>
              <a:rPr dirty="0"/>
              <a:t> (CRISP-DM &amp; Pipeline)</a:t>
            </a:r>
          </a:p>
        </p:txBody>
      </p:sp>
      <p:sp>
        <p:nvSpPr>
          <p:cNvPr id="3" name="Content Placeholder 2"/>
          <p:cNvSpPr>
            <a:spLocks noGrp="1"/>
          </p:cNvSpPr>
          <p:nvPr>
            <p:ph idx="1"/>
          </p:nvPr>
        </p:nvSpPr>
        <p:spPr/>
        <p:txBody>
          <a:bodyPr/>
          <a:lstStyle/>
          <a:p>
            <a:pPr>
              <a:defRPr sz="2000"/>
            </a:pPr>
            <a:r>
              <a:rPr dirty="0" err="1"/>
              <a:t>Pendekatan</a:t>
            </a:r>
            <a:r>
              <a:rPr dirty="0"/>
              <a:t> </a:t>
            </a:r>
            <a:r>
              <a:rPr dirty="0" err="1"/>
              <a:t>Standar</a:t>
            </a:r>
            <a:r>
              <a:rPr dirty="0"/>
              <a:t>: </a:t>
            </a:r>
            <a:r>
              <a:rPr dirty="0" err="1"/>
              <a:t>Mengadopsi</a:t>
            </a:r>
            <a:r>
              <a:rPr dirty="0"/>
              <a:t> </a:t>
            </a:r>
            <a:r>
              <a:rPr dirty="0" err="1"/>
              <a:t>kerangka</a:t>
            </a:r>
            <a:r>
              <a:rPr dirty="0"/>
              <a:t> </a:t>
            </a:r>
            <a:r>
              <a:rPr dirty="0" err="1"/>
              <a:t>kerja</a:t>
            </a:r>
            <a:r>
              <a:rPr dirty="0"/>
              <a:t> Cross-Industry Standard Process for Data Mining (CRISP-DM).</a:t>
            </a:r>
          </a:p>
          <a:p>
            <a:pPr>
              <a:defRPr sz="2000"/>
            </a:pPr>
            <a:r>
              <a:rPr dirty="0" err="1"/>
              <a:t>Arsitektur</a:t>
            </a:r>
            <a:r>
              <a:rPr dirty="0"/>
              <a:t> Hybrid Cognitive Pipeline:</a:t>
            </a:r>
          </a:p>
          <a:p>
            <a:pPr lvl="1">
              <a:defRPr sz="1800"/>
            </a:pPr>
            <a:r>
              <a:rPr dirty="0"/>
              <a:t>1. Pre-processing &amp; Embedding: </a:t>
            </a:r>
            <a:r>
              <a:rPr dirty="0" err="1"/>
              <a:t>Mengubah</a:t>
            </a:r>
            <a:r>
              <a:rPr dirty="0"/>
              <a:t> data </a:t>
            </a:r>
            <a:r>
              <a:rPr dirty="0" err="1"/>
              <a:t>teks</a:t>
            </a:r>
            <a:r>
              <a:rPr dirty="0"/>
              <a:t> (Nama, </a:t>
            </a:r>
            <a:r>
              <a:rPr dirty="0" err="1"/>
              <a:t>Sekolah</a:t>
            </a:r>
            <a:r>
              <a:rPr dirty="0"/>
              <a:t>, Alamat) </a:t>
            </a:r>
            <a:r>
              <a:rPr dirty="0" err="1"/>
              <a:t>menjadi</a:t>
            </a:r>
            <a:r>
              <a:rPr dirty="0"/>
              <a:t> </a:t>
            </a:r>
            <a:r>
              <a:rPr dirty="0" err="1"/>
              <a:t>vektor</a:t>
            </a:r>
            <a:r>
              <a:rPr dirty="0"/>
              <a:t> 768D (</a:t>
            </a:r>
            <a:r>
              <a:rPr dirty="0" err="1"/>
              <a:t>IndoBERT</a:t>
            </a:r>
            <a:r>
              <a:rPr dirty="0"/>
              <a:t>).</a:t>
            </a:r>
          </a:p>
          <a:p>
            <a:pPr lvl="1">
              <a:defRPr sz="1800"/>
            </a:pPr>
            <a:r>
              <a:rPr dirty="0"/>
              <a:t>2. </a:t>
            </a:r>
            <a:r>
              <a:rPr dirty="0" err="1"/>
              <a:t>Reduksi</a:t>
            </a:r>
            <a:r>
              <a:rPr dirty="0"/>
              <a:t> </a:t>
            </a:r>
            <a:r>
              <a:rPr dirty="0" err="1"/>
              <a:t>Dimensi</a:t>
            </a:r>
            <a:r>
              <a:rPr dirty="0"/>
              <a:t>: </a:t>
            </a:r>
            <a:r>
              <a:rPr dirty="0" err="1"/>
              <a:t>Menggunakan</a:t>
            </a:r>
            <a:r>
              <a:rPr dirty="0"/>
              <a:t> PCA </a:t>
            </a:r>
            <a:r>
              <a:rPr dirty="0" err="1"/>
              <a:t>untuk</a:t>
            </a:r>
            <a:r>
              <a:rPr dirty="0"/>
              <a:t> </a:t>
            </a:r>
            <a:r>
              <a:rPr dirty="0" err="1"/>
              <a:t>mengoptimasi</a:t>
            </a:r>
            <a:r>
              <a:rPr dirty="0"/>
              <a:t> </a:t>
            </a:r>
            <a:r>
              <a:rPr dirty="0" err="1"/>
              <a:t>dimensi</a:t>
            </a:r>
            <a:r>
              <a:rPr dirty="0"/>
              <a:t> </a:t>
            </a:r>
            <a:r>
              <a:rPr dirty="0" err="1"/>
              <a:t>vektor</a:t>
            </a:r>
            <a:r>
              <a:rPr dirty="0"/>
              <a:t>.</a:t>
            </a:r>
          </a:p>
          <a:p>
            <a:pPr lvl="1">
              <a:defRPr sz="1800"/>
            </a:pPr>
            <a:r>
              <a:rPr dirty="0"/>
              <a:t>3. </a:t>
            </a:r>
            <a:r>
              <a:rPr dirty="0" err="1"/>
              <a:t>Klasterisasi</a:t>
            </a:r>
            <a:r>
              <a:rPr dirty="0"/>
              <a:t> </a:t>
            </a:r>
            <a:r>
              <a:rPr dirty="0" err="1"/>
              <a:t>Probabilistik</a:t>
            </a:r>
            <a:r>
              <a:rPr dirty="0"/>
              <a:t>: Gaussian Mixture Model (GMM) </a:t>
            </a:r>
            <a:r>
              <a:rPr dirty="0" err="1"/>
              <a:t>untuk</a:t>
            </a:r>
            <a:r>
              <a:rPr dirty="0"/>
              <a:t> </a:t>
            </a:r>
            <a:r>
              <a:rPr dirty="0" err="1"/>
              <a:t>menghitung</a:t>
            </a:r>
            <a:r>
              <a:rPr dirty="0"/>
              <a:t> </a:t>
            </a:r>
            <a:r>
              <a:rPr dirty="0" err="1"/>
              <a:t>probabilitas</a:t>
            </a:r>
            <a:r>
              <a:rPr dirty="0"/>
              <a:t> posterior </a:t>
            </a:r>
            <a:r>
              <a:rPr dirty="0" err="1"/>
              <a:t>tiap</a:t>
            </a:r>
            <a:r>
              <a:rPr dirty="0"/>
              <a:t> </a:t>
            </a:r>
            <a:r>
              <a:rPr dirty="0" err="1"/>
              <a:t>mahasiswa</a:t>
            </a:r>
            <a:r>
              <a:rPr dirty="0"/>
              <a:t>.</a:t>
            </a:r>
          </a:p>
          <a:p>
            <a:pPr lvl="1">
              <a:defRPr sz="1800"/>
            </a:pPr>
            <a:r>
              <a:rPr dirty="0"/>
              <a:t>4. </a:t>
            </a:r>
            <a:r>
              <a:rPr dirty="0" err="1"/>
              <a:t>Generasi</a:t>
            </a:r>
            <a:r>
              <a:rPr dirty="0"/>
              <a:t> Persona: LLM </a:t>
            </a:r>
            <a:r>
              <a:rPr dirty="0" err="1"/>
              <a:t>skala</a:t>
            </a:r>
            <a:r>
              <a:rPr dirty="0"/>
              <a:t> </a:t>
            </a:r>
            <a:r>
              <a:rPr dirty="0" err="1"/>
              <a:t>besar</a:t>
            </a:r>
            <a:r>
              <a:rPr dirty="0"/>
              <a:t> (Llama 3.3 via </a:t>
            </a:r>
            <a:r>
              <a:rPr dirty="0" err="1"/>
              <a:t>OpenRouter</a:t>
            </a:r>
            <a:r>
              <a:rPr dirty="0"/>
              <a:t>) </a:t>
            </a:r>
            <a:r>
              <a:rPr dirty="0" err="1"/>
              <a:t>mengekstrak</a:t>
            </a:r>
            <a:r>
              <a:rPr dirty="0"/>
              <a:t> </a:t>
            </a:r>
            <a:r>
              <a:rPr dirty="0" err="1"/>
              <a:t>narasi</a:t>
            </a:r>
            <a:r>
              <a:rPr dirty="0"/>
              <a:t> </a:t>
            </a:r>
            <a:r>
              <a:rPr dirty="0" err="1"/>
              <a:t>manajerial</a:t>
            </a:r>
            <a:r>
              <a:rPr dirty="0"/>
              <a:t> </a:t>
            </a:r>
            <a:r>
              <a:rPr dirty="0" err="1"/>
              <a:t>dari</a:t>
            </a:r>
            <a:r>
              <a:rPr dirty="0"/>
              <a:t> centroid GMM.</a:t>
            </a:r>
          </a:p>
        </p:txBody>
      </p:sp>
    </p:spTree>
    <p:extLst>
      <p:ext uri="{BB962C8B-B14F-4D97-AF65-F5344CB8AC3E}">
        <p14:creationId xmlns:p14="http://schemas.microsoft.com/office/powerpoint/2010/main" val="17843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Penentuan</a:t>
            </a:r>
            <a:r>
              <a:rPr dirty="0"/>
              <a:t> </a:t>
            </a:r>
            <a:r>
              <a:rPr dirty="0" err="1"/>
              <a:t>Klaster</a:t>
            </a:r>
            <a:r>
              <a:rPr dirty="0"/>
              <a:t> Optimal (GMM)</a:t>
            </a:r>
          </a:p>
        </p:txBody>
      </p:sp>
      <p:sp>
        <p:nvSpPr>
          <p:cNvPr id="3" name="Content Placeholder 2"/>
          <p:cNvSpPr>
            <a:spLocks noGrp="1"/>
          </p:cNvSpPr>
          <p:nvPr>
            <p:ph idx="1"/>
          </p:nvPr>
        </p:nvSpPr>
        <p:spPr>
          <a:xfrm>
            <a:off x="0" y="2194560"/>
            <a:ext cx="4572000" cy="0"/>
          </a:xfrm>
        </p:spPr>
        <p:txBody>
          <a:bodyPr>
            <a:noAutofit/>
          </a:bodyPr>
          <a:lstStyle/>
          <a:p>
            <a:pPr>
              <a:defRPr sz="1800"/>
            </a:pPr>
            <a:r>
              <a:rPr sz="1100" dirty="0"/>
              <a:t>Hasil </a:t>
            </a:r>
            <a:r>
              <a:rPr sz="1100" dirty="0" err="1"/>
              <a:t>Integrasi</a:t>
            </a:r>
            <a:r>
              <a:rPr sz="1100" dirty="0"/>
              <a:t> </a:t>
            </a:r>
            <a:r>
              <a:rPr sz="1100" dirty="0" err="1"/>
              <a:t>IndoBERT</a:t>
            </a:r>
            <a:r>
              <a:rPr sz="1100" dirty="0"/>
              <a:t> &amp; GMM (2019-2024):</a:t>
            </a:r>
          </a:p>
          <a:p>
            <a:pPr lvl="1">
              <a:defRPr sz="1600"/>
            </a:pPr>
            <a:r>
              <a:rPr sz="1050" dirty="0"/>
              <a:t>K optimal </a:t>
            </a:r>
            <a:r>
              <a:rPr sz="1050" dirty="0" err="1"/>
              <a:t>bervariasi</a:t>
            </a:r>
            <a:r>
              <a:rPr sz="1050" dirty="0"/>
              <a:t> </a:t>
            </a:r>
            <a:r>
              <a:rPr sz="1050" dirty="0" err="1"/>
              <a:t>tiap</a:t>
            </a:r>
            <a:r>
              <a:rPr sz="1050" dirty="0"/>
              <a:t> </a:t>
            </a:r>
            <a:r>
              <a:rPr sz="1050" dirty="0" err="1"/>
              <a:t>periode</a:t>
            </a:r>
            <a:r>
              <a:rPr sz="1050" dirty="0"/>
              <a:t> (6, 6, 6, 5, 2, 3) </a:t>
            </a:r>
            <a:r>
              <a:rPr sz="1050" dirty="0" err="1"/>
              <a:t>klaster</a:t>
            </a:r>
            <a:r>
              <a:rPr sz="1050" dirty="0"/>
              <a:t>.</a:t>
            </a:r>
          </a:p>
          <a:p>
            <a:pPr lvl="1">
              <a:defRPr sz="1600"/>
            </a:pPr>
            <a:r>
              <a:rPr sz="1050" dirty="0" err="1"/>
              <a:t>Terjadi</a:t>
            </a:r>
            <a:r>
              <a:rPr sz="1050" dirty="0"/>
              <a:t> </a:t>
            </a:r>
            <a:r>
              <a:rPr sz="1050" dirty="0" err="1"/>
              <a:t>konsolidasi</a:t>
            </a:r>
            <a:r>
              <a:rPr sz="1050" dirty="0"/>
              <a:t> </a:t>
            </a:r>
            <a:r>
              <a:rPr sz="1050" dirty="0" err="1"/>
              <a:t>segmen</a:t>
            </a:r>
            <a:r>
              <a:rPr sz="1050" dirty="0"/>
              <a:t> </a:t>
            </a:r>
            <a:r>
              <a:rPr sz="1050" dirty="0" err="1"/>
              <a:t>pendaftar</a:t>
            </a:r>
            <a:r>
              <a:rPr sz="1050" dirty="0"/>
              <a:t> yang </a:t>
            </a:r>
            <a:r>
              <a:rPr sz="1050" dirty="0" err="1"/>
              <a:t>homogen</a:t>
            </a:r>
            <a:r>
              <a:rPr sz="1050" dirty="0"/>
              <a:t> </a:t>
            </a:r>
            <a:r>
              <a:rPr sz="1050" dirty="0" err="1"/>
              <a:t>dari</a:t>
            </a:r>
            <a:r>
              <a:rPr sz="1050" dirty="0"/>
              <a:t> 6 </a:t>
            </a:r>
            <a:r>
              <a:rPr sz="1050" dirty="0" err="1"/>
              <a:t>klaster</a:t>
            </a:r>
            <a:r>
              <a:rPr sz="1050" dirty="0"/>
              <a:t> (2019) </a:t>
            </a:r>
            <a:r>
              <a:rPr sz="1050" dirty="0" err="1"/>
              <a:t>menjadi</a:t>
            </a:r>
            <a:r>
              <a:rPr sz="1050" dirty="0"/>
              <a:t> 2 </a:t>
            </a:r>
            <a:r>
              <a:rPr sz="1050" dirty="0" err="1"/>
              <a:t>klaster</a:t>
            </a:r>
            <a:r>
              <a:rPr sz="1050" dirty="0"/>
              <a:t> (2023).</a:t>
            </a:r>
          </a:p>
          <a:p>
            <a:pPr lvl="1">
              <a:defRPr sz="1600"/>
            </a:pPr>
            <a:r>
              <a:rPr sz="1050" dirty="0"/>
              <a:t>Silhouette Score (</a:t>
            </a:r>
            <a:r>
              <a:rPr sz="1050" dirty="0" err="1"/>
              <a:t>misal</a:t>
            </a:r>
            <a:r>
              <a:rPr sz="1050" dirty="0"/>
              <a:t> 0.0905 </a:t>
            </a:r>
            <a:r>
              <a:rPr sz="1050" dirty="0" err="1"/>
              <a:t>pada</a:t>
            </a:r>
            <a:r>
              <a:rPr sz="1050" dirty="0"/>
              <a:t> 2023) </a:t>
            </a:r>
            <a:r>
              <a:rPr sz="1050" dirty="0" err="1"/>
              <a:t>menunjukkan</a:t>
            </a:r>
            <a:r>
              <a:rPr sz="1050" dirty="0"/>
              <a:t> model </a:t>
            </a:r>
            <a:r>
              <a:rPr sz="1050" dirty="0" err="1"/>
              <a:t>probabilitas</a:t>
            </a:r>
            <a:r>
              <a:rPr sz="1050" dirty="0"/>
              <a:t> GMM </a:t>
            </a:r>
            <a:r>
              <a:rPr sz="1050" dirty="0" err="1"/>
              <a:t>efektif</a:t>
            </a:r>
            <a:r>
              <a:rPr sz="1050" dirty="0"/>
              <a:t> </a:t>
            </a:r>
            <a:r>
              <a:rPr sz="1050" dirty="0" err="1"/>
              <a:t>menangani</a:t>
            </a:r>
            <a:r>
              <a:rPr sz="1050" dirty="0"/>
              <a:t> </a:t>
            </a:r>
            <a:r>
              <a:rPr sz="1050" dirty="0" err="1"/>
              <a:t>tumpang</a:t>
            </a:r>
            <a:r>
              <a:rPr sz="1050" dirty="0"/>
              <a:t> </a:t>
            </a:r>
            <a:r>
              <a:rPr sz="1050" dirty="0" err="1"/>
              <a:t>tindih</a:t>
            </a:r>
            <a:r>
              <a:rPr sz="1050" dirty="0"/>
              <a:t> </a:t>
            </a:r>
            <a:r>
              <a:rPr sz="1050" dirty="0" err="1"/>
              <a:t>segmen</a:t>
            </a:r>
            <a:r>
              <a:rPr sz="1050" dirty="0"/>
              <a:t> </a:t>
            </a:r>
            <a:r>
              <a:rPr sz="1050" dirty="0" err="1"/>
              <a:t>dibanding</a:t>
            </a:r>
            <a:r>
              <a:rPr sz="1050" dirty="0"/>
              <a:t> hard clustering.</a:t>
            </a:r>
          </a:p>
        </p:txBody>
      </p:sp>
      <p:pic>
        <p:nvPicPr>
          <p:cNvPr id="4" name="Picture 3" descr="gambar_4_3a_silhouette.png"/>
          <p:cNvPicPr>
            <a:picLocks noChangeAspect="1"/>
          </p:cNvPicPr>
          <p:nvPr/>
        </p:nvPicPr>
        <p:blipFill>
          <a:blip r:embed="rId3"/>
          <a:stretch>
            <a:fillRect/>
          </a:stretch>
        </p:blipFill>
        <p:spPr>
          <a:xfrm>
            <a:off x="4572000" y="1828800"/>
            <a:ext cx="4114800" cy="24688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Stabilitas Model &amp; Structural Breaks</a:t>
            </a:r>
          </a:p>
        </p:txBody>
      </p:sp>
      <p:sp>
        <p:nvSpPr>
          <p:cNvPr id="3" name="Content Placeholder 2"/>
          <p:cNvSpPr>
            <a:spLocks noGrp="1"/>
          </p:cNvSpPr>
          <p:nvPr>
            <p:ph idx="1"/>
          </p:nvPr>
        </p:nvSpPr>
        <p:spPr>
          <a:xfrm>
            <a:off x="79513" y="2099145"/>
            <a:ext cx="4572000" cy="0"/>
          </a:xfrm>
        </p:spPr>
        <p:txBody>
          <a:bodyPr>
            <a:noAutofit/>
          </a:bodyPr>
          <a:lstStyle/>
          <a:p>
            <a:pPr>
              <a:defRPr sz="1800"/>
            </a:pPr>
            <a:r>
              <a:rPr sz="1100" dirty="0" err="1"/>
              <a:t>Dinamika</a:t>
            </a:r>
            <a:r>
              <a:rPr sz="1100" dirty="0"/>
              <a:t> </a:t>
            </a:r>
            <a:r>
              <a:rPr sz="1100" dirty="0" err="1"/>
              <a:t>Perubahan</a:t>
            </a:r>
            <a:r>
              <a:rPr sz="1100" dirty="0"/>
              <a:t> </a:t>
            </a:r>
            <a:r>
              <a:rPr sz="1100" dirty="0" err="1"/>
              <a:t>Struktural</a:t>
            </a:r>
            <a:r>
              <a:rPr sz="1100" dirty="0"/>
              <a:t> </a:t>
            </a:r>
            <a:r>
              <a:rPr sz="1100" dirty="0" err="1"/>
              <a:t>Pendaftar</a:t>
            </a:r>
            <a:r>
              <a:rPr sz="1100" dirty="0"/>
              <a:t>:</a:t>
            </a:r>
          </a:p>
          <a:p>
            <a:pPr lvl="1">
              <a:defRPr sz="1600"/>
            </a:pPr>
            <a:r>
              <a:rPr sz="1050" dirty="0" err="1"/>
              <a:t>Evaluasi</a:t>
            </a:r>
            <a:r>
              <a:rPr sz="1050" dirty="0"/>
              <a:t> </a:t>
            </a:r>
            <a:r>
              <a:rPr sz="1050" dirty="0" err="1"/>
              <a:t>stabilitas</a:t>
            </a:r>
            <a:r>
              <a:rPr sz="1050" dirty="0"/>
              <a:t> (ARI) </a:t>
            </a:r>
            <a:r>
              <a:rPr sz="1050" dirty="0" err="1"/>
              <a:t>membuktikan</a:t>
            </a:r>
            <a:r>
              <a:rPr sz="1050" dirty="0"/>
              <a:t> </a:t>
            </a:r>
            <a:r>
              <a:rPr sz="1050" dirty="0" err="1"/>
              <a:t>asumsi</a:t>
            </a:r>
            <a:r>
              <a:rPr sz="1050" dirty="0"/>
              <a:t> </a:t>
            </a:r>
            <a:r>
              <a:rPr sz="1050" dirty="0" err="1"/>
              <a:t>pasar</a:t>
            </a:r>
            <a:r>
              <a:rPr sz="1050" dirty="0"/>
              <a:t> </a:t>
            </a:r>
            <a:r>
              <a:rPr sz="1050" dirty="0" err="1"/>
              <a:t>statis</a:t>
            </a:r>
            <a:r>
              <a:rPr sz="1050" dirty="0"/>
              <a:t> </a:t>
            </a:r>
            <a:r>
              <a:rPr sz="1050" dirty="0" err="1"/>
              <a:t>adalah</a:t>
            </a:r>
            <a:r>
              <a:rPr sz="1050" dirty="0"/>
              <a:t> </a:t>
            </a:r>
            <a:r>
              <a:rPr sz="1050" dirty="0" err="1"/>
              <a:t>keliru</a:t>
            </a:r>
            <a:r>
              <a:rPr sz="1050" dirty="0"/>
              <a:t>.</a:t>
            </a:r>
          </a:p>
          <a:p>
            <a:pPr lvl="1">
              <a:defRPr sz="1600"/>
            </a:pPr>
            <a:r>
              <a:rPr sz="1050" dirty="0" err="1"/>
              <a:t>Seluruh</a:t>
            </a:r>
            <a:r>
              <a:rPr sz="1050" dirty="0"/>
              <a:t> 5 </a:t>
            </a:r>
            <a:r>
              <a:rPr sz="1050" dirty="0" err="1"/>
              <a:t>transisi</a:t>
            </a:r>
            <a:r>
              <a:rPr sz="1050" dirty="0"/>
              <a:t> </a:t>
            </a:r>
            <a:r>
              <a:rPr sz="1050" dirty="0" err="1"/>
              <a:t>antar</a:t>
            </a:r>
            <a:r>
              <a:rPr sz="1050" dirty="0"/>
              <a:t> </a:t>
            </a:r>
            <a:r>
              <a:rPr sz="1050" dirty="0" err="1"/>
              <a:t>periode</a:t>
            </a:r>
            <a:r>
              <a:rPr sz="1050" dirty="0"/>
              <a:t> (2019-2024) </a:t>
            </a:r>
            <a:r>
              <a:rPr sz="1050" dirty="0" err="1"/>
              <a:t>adalah</a:t>
            </a:r>
            <a:r>
              <a:rPr sz="1050" dirty="0"/>
              <a:t> structural break (ARI &lt; 0.30).</a:t>
            </a:r>
          </a:p>
          <a:p>
            <a:pPr lvl="1">
              <a:defRPr sz="1600"/>
            </a:pPr>
            <a:r>
              <a:rPr sz="1050" dirty="0" err="1"/>
              <a:t>Transisi</a:t>
            </a:r>
            <a:r>
              <a:rPr sz="1050" dirty="0"/>
              <a:t> Baseline </a:t>
            </a:r>
            <a:r>
              <a:rPr sz="1050" dirty="0" err="1"/>
              <a:t>ke</a:t>
            </a:r>
            <a:r>
              <a:rPr sz="1050" dirty="0"/>
              <a:t> COVID Crisis (2019-2020) </a:t>
            </a:r>
            <a:r>
              <a:rPr sz="1050" dirty="0" err="1"/>
              <a:t>mencatat</a:t>
            </a:r>
            <a:r>
              <a:rPr sz="1050" dirty="0"/>
              <a:t> </a:t>
            </a:r>
            <a:r>
              <a:rPr sz="1050" dirty="0" err="1"/>
              <a:t>disrupsi</a:t>
            </a:r>
            <a:r>
              <a:rPr sz="1050" dirty="0"/>
              <a:t> </a:t>
            </a:r>
            <a:r>
              <a:rPr sz="1050" dirty="0" err="1"/>
              <a:t>ekstrem</a:t>
            </a:r>
            <a:r>
              <a:rPr sz="1050" dirty="0"/>
              <a:t> (ARI = -0.0036).</a:t>
            </a:r>
          </a:p>
          <a:p>
            <a:pPr lvl="1">
              <a:defRPr sz="1600"/>
            </a:pPr>
            <a:r>
              <a:rPr sz="1050" dirty="0"/>
              <a:t>Model GMM </a:t>
            </a:r>
            <a:r>
              <a:rPr sz="1050" dirty="0" err="1"/>
              <a:t>sukses</a:t>
            </a:r>
            <a:r>
              <a:rPr sz="1050" dirty="0"/>
              <a:t> </a:t>
            </a:r>
            <a:r>
              <a:rPr sz="1050" dirty="0" err="1"/>
              <a:t>memetakan</a:t>
            </a:r>
            <a:r>
              <a:rPr sz="1050" dirty="0"/>
              <a:t> </a:t>
            </a:r>
            <a:r>
              <a:rPr sz="1050" dirty="0" err="1"/>
              <a:t>pergeseran</a:t>
            </a:r>
            <a:r>
              <a:rPr sz="1050" dirty="0"/>
              <a:t> centroid (Centroid Drift) </a:t>
            </a:r>
            <a:r>
              <a:rPr sz="1050" dirty="0" err="1"/>
              <a:t>ini</a:t>
            </a:r>
            <a:r>
              <a:rPr sz="1050" dirty="0"/>
              <a:t> </a:t>
            </a:r>
            <a:r>
              <a:rPr sz="1050" dirty="0" err="1"/>
              <a:t>secara</a:t>
            </a:r>
            <a:r>
              <a:rPr sz="1050" dirty="0"/>
              <a:t> </a:t>
            </a:r>
            <a:r>
              <a:rPr sz="1050" dirty="0" err="1"/>
              <a:t>presisi</a:t>
            </a:r>
            <a:r>
              <a:rPr sz="1050" dirty="0"/>
              <a:t>.</a:t>
            </a:r>
          </a:p>
        </p:txBody>
      </p:sp>
      <p:pic>
        <p:nvPicPr>
          <p:cNvPr id="4" name="Picture 3" descr="gambar_4_3c_ari.png"/>
          <p:cNvPicPr>
            <a:picLocks noChangeAspect="1"/>
          </p:cNvPicPr>
          <p:nvPr/>
        </p:nvPicPr>
        <p:blipFill>
          <a:blip r:embed="rId3"/>
          <a:stretch>
            <a:fillRect/>
          </a:stretch>
        </p:blipFill>
        <p:spPr>
          <a:xfrm>
            <a:off x="4572000" y="1828800"/>
            <a:ext cx="4114800" cy="2468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err="1"/>
              <a:t>Validasi</a:t>
            </a:r>
            <a:r>
              <a:rPr dirty="0"/>
              <a:t> Persona LLM (Hybrid Pipeline)</a:t>
            </a:r>
          </a:p>
        </p:txBody>
      </p:sp>
      <p:sp>
        <p:nvSpPr>
          <p:cNvPr id="3" name="Content Placeholder 2"/>
          <p:cNvSpPr>
            <a:spLocks noGrp="1"/>
          </p:cNvSpPr>
          <p:nvPr>
            <p:ph idx="1"/>
          </p:nvPr>
        </p:nvSpPr>
        <p:spPr>
          <a:xfrm>
            <a:off x="0" y="2083242"/>
            <a:ext cx="4572000" cy="0"/>
          </a:xfrm>
        </p:spPr>
        <p:txBody>
          <a:bodyPr>
            <a:noAutofit/>
          </a:bodyPr>
          <a:lstStyle/>
          <a:p>
            <a:pPr>
              <a:defRPr sz="1800"/>
            </a:pPr>
            <a:r>
              <a:rPr sz="1400" dirty="0" err="1"/>
              <a:t>Otomasi</a:t>
            </a:r>
            <a:r>
              <a:rPr sz="1400" dirty="0"/>
              <a:t> </a:t>
            </a:r>
            <a:r>
              <a:rPr sz="1400" dirty="0" err="1"/>
              <a:t>Penalaran</a:t>
            </a:r>
            <a:r>
              <a:rPr sz="1400" dirty="0"/>
              <a:t> (Reasoning) Skala </a:t>
            </a:r>
            <a:r>
              <a:rPr sz="1400" dirty="0" err="1"/>
              <a:t>Besar</a:t>
            </a:r>
            <a:r>
              <a:rPr sz="1400" dirty="0"/>
              <a:t>:</a:t>
            </a:r>
          </a:p>
          <a:p>
            <a:pPr lvl="1">
              <a:defRPr sz="1600"/>
            </a:pPr>
            <a:r>
              <a:rPr sz="1200" dirty="0" err="1"/>
              <a:t>Menggunakan</a:t>
            </a:r>
            <a:r>
              <a:rPr sz="1200" dirty="0"/>
              <a:t> </a:t>
            </a:r>
            <a:r>
              <a:rPr sz="1200" dirty="0" err="1"/>
              <a:t>OpenRouter</a:t>
            </a:r>
            <a:r>
              <a:rPr sz="1200" dirty="0"/>
              <a:t> (Llama 3.3 70B, </a:t>
            </a:r>
            <a:r>
              <a:rPr sz="1200" dirty="0" err="1"/>
              <a:t>Nemotron</a:t>
            </a:r>
            <a:r>
              <a:rPr sz="1200" dirty="0"/>
              <a:t>) </a:t>
            </a:r>
            <a:r>
              <a:rPr sz="1200" dirty="0" err="1"/>
              <a:t>mengubah</a:t>
            </a:r>
            <a:r>
              <a:rPr sz="1200" dirty="0"/>
              <a:t> data </a:t>
            </a:r>
            <a:r>
              <a:rPr sz="1200" dirty="0" err="1"/>
              <a:t>kuantitatif</a:t>
            </a:r>
            <a:r>
              <a:rPr sz="1200" dirty="0"/>
              <a:t> </a:t>
            </a:r>
            <a:r>
              <a:rPr sz="1200" dirty="0" err="1"/>
              <a:t>ke</a:t>
            </a:r>
            <a:r>
              <a:rPr sz="1200" dirty="0"/>
              <a:t> </a:t>
            </a:r>
            <a:r>
              <a:rPr sz="1200" dirty="0" err="1"/>
              <a:t>narasi</a:t>
            </a:r>
            <a:r>
              <a:rPr sz="1200" dirty="0"/>
              <a:t>.</a:t>
            </a:r>
          </a:p>
          <a:p>
            <a:pPr lvl="1">
              <a:defRPr sz="1600"/>
            </a:pPr>
            <a:r>
              <a:rPr sz="1200" dirty="0"/>
              <a:t>LLM </a:t>
            </a:r>
            <a:r>
              <a:rPr sz="1200" dirty="0" err="1"/>
              <a:t>berhasil</a:t>
            </a:r>
            <a:r>
              <a:rPr sz="1200" dirty="0"/>
              <a:t> men-generate </a:t>
            </a:r>
            <a:r>
              <a:rPr sz="1200" dirty="0" err="1"/>
              <a:t>narasi</a:t>
            </a:r>
            <a:r>
              <a:rPr sz="1200" dirty="0"/>
              <a:t> persona </a:t>
            </a:r>
            <a:r>
              <a:rPr sz="1200" dirty="0" err="1"/>
              <a:t>calon</a:t>
            </a:r>
            <a:r>
              <a:rPr sz="1200" dirty="0"/>
              <a:t> </a:t>
            </a:r>
            <a:r>
              <a:rPr sz="1200" dirty="0" err="1"/>
              <a:t>mahasiswa</a:t>
            </a:r>
            <a:r>
              <a:rPr sz="1200" dirty="0"/>
              <a:t> </a:t>
            </a:r>
            <a:r>
              <a:rPr sz="1200" dirty="0" err="1"/>
              <a:t>dengan</a:t>
            </a:r>
            <a:r>
              <a:rPr sz="1200" dirty="0"/>
              <a:t> </a:t>
            </a:r>
            <a:r>
              <a:rPr sz="1200" dirty="0" err="1"/>
              <a:t>logika</a:t>
            </a:r>
            <a:r>
              <a:rPr sz="1200" dirty="0"/>
              <a:t> </a:t>
            </a:r>
            <a:r>
              <a:rPr sz="1200" dirty="0" err="1"/>
              <a:t>kausal</a:t>
            </a:r>
            <a:r>
              <a:rPr sz="1200" dirty="0"/>
              <a:t> yang </a:t>
            </a:r>
            <a:r>
              <a:rPr sz="1200" dirty="0" err="1"/>
              <a:t>tajam</a:t>
            </a:r>
            <a:r>
              <a:rPr sz="1200" dirty="0"/>
              <a:t>.</a:t>
            </a:r>
          </a:p>
          <a:p>
            <a:pPr lvl="1">
              <a:defRPr sz="1600"/>
            </a:pPr>
            <a:r>
              <a:rPr sz="1200" dirty="0" err="1"/>
              <a:t>Divalidasi</a:t>
            </a:r>
            <a:r>
              <a:rPr sz="1200" dirty="0"/>
              <a:t> </a:t>
            </a:r>
            <a:r>
              <a:rPr sz="1200" dirty="0" err="1"/>
              <a:t>menggunakan</a:t>
            </a:r>
            <a:r>
              <a:rPr sz="1200" dirty="0"/>
              <a:t> Expert Judgement, </a:t>
            </a:r>
            <a:r>
              <a:rPr sz="1200" dirty="0" err="1"/>
              <a:t>membuktikan</a:t>
            </a:r>
            <a:r>
              <a:rPr sz="1200" dirty="0"/>
              <a:t> </a:t>
            </a:r>
            <a:r>
              <a:rPr sz="1200" dirty="0" err="1"/>
              <a:t>kapabilitas</a:t>
            </a:r>
            <a:r>
              <a:rPr sz="1200" dirty="0"/>
              <a:t> Generative AI </a:t>
            </a:r>
            <a:r>
              <a:rPr sz="1200" dirty="0" err="1"/>
              <a:t>untuk</a:t>
            </a:r>
            <a:r>
              <a:rPr sz="1200" dirty="0"/>
              <a:t> </a:t>
            </a:r>
            <a:r>
              <a:rPr sz="1200" dirty="0" err="1"/>
              <a:t>ranah</a:t>
            </a:r>
            <a:r>
              <a:rPr sz="1200" dirty="0"/>
              <a:t> </a:t>
            </a:r>
            <a:r>
              <a:rPr sz="1200" dirty="0" err="1"/>
              <a:t>manajerial</a:t>
            </a:r>
            <a:r>
              <a:rPr sz="1200" dirty="0"/>
              <a:t> ITSNU.</a:t>
            </a:r>
          </a:p>
        </p:txBody>
      </p:sp>
      <p:pic>
        <p:nvPicPr>
          <p:cNvPr id="4" name="Picture 3" descr="gambar_4_5_proyeksi.png"/>
          <p:cNvPicPr>
            <a:picLocks noChangeAspect="1"/>
          </p:cNvPicPr>
          <p:nvPr/>
        </p:nvPicPr>
        <p:blipFill>
          <a:blip r:embed="rId3"/>
          <a:stretch>
            <a:fillRect/>
          </a:stretch>
        </p:blipFill>
        <p:spPr>
          <a:xfrm>
            <a:off x="4572000" y="1828800"/>
            <a:ext cx="4114800" cy="24688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Kesimpulan &amp; Rekomendasi</a:t>
            </a:r>
          </a:p>
        </p:txBody>
      </p:sp>
      <p:sp>
        <p:nvSpPr>
          <p:cNvPr id="3" name="Content Placeholder 2"/>
          <p:cNvSpPr>
            <a:spLocks noGrp="1"/>
          </p:cNvSpPr>
          <p:nvPr>
            <p:ph idx="1"/>
          </p:nvPr>
        </p:nvSpPr>
        <p:spPr>
          <a:xfrm>
            <a:off x="457200" y="1789043"/>
            <a:ext cx="4572000" cy="0"/>
          </a:xfrm>
        </p:spPr>
        <p:txBody>
          <a:bodyPr>
            <a:noAutofit/>
          </a:bodyPr>
          <a:lstStyle/>
          <a:p>
            <a:pPr>
              <a:defRPr sz="1800"/>
            </a:pPr>
            <a:r>
              <a:rPr sz="1100" dirty="0"/>
              <a:t>Kesimpulan Utama:</a:t>
            </a:r>
          </a:p>
          <a:p>
            <a:pPr>
              <a:defRPr sz="1800"/>
            </a:pPr>
            <a:r>
              <a:rPr sz="1100" dirty="0"/>
              <a:t>1. </a:t>
            </a:r>
            <a:r>
              <a:rPr sz="1100" dirty="0" err="1"/>
              <a:t>IndoBERT</a:t>
            </a:r>
            <a:r>
              <a:rPr sz="1100" dirty="0"/>
              <a:t> + GMM </a:t>
            </a:r>
            <a:r>
              <a:rPr sz="1100" dirty="0" err="1"/>
              <a:t>sangat</a:t>
            </a:r>
            <a:r>
              <a:rPr sz="1100" dirty="0"/>
              <a:t> </a:t>
            </a:r>
            <a:r>
              <a:rPr sz="1100" dirty="0" err="1"/>
              <a:t>efektif</a:t>
            </a:r>
            <a:r>
              <a:rPr sz="1100" dirty="0"/>
              <a:t> </a:t>
            </a:r>
            <a:r>
              <a:rPr sz="1100" dirty="0" err="1"/>
              <a:t>memetakan</a:t>
            </a:r>
            <a:r>
              <a:rPr sz="1100" dirty="0"/>
              <a:t> </a:t>
            </a:r>
            <a:r>
              <a:rPr sz="1100" dirty="0" err="1"/>
              <a:t>probabilitas</a:t>
            </a:r>
            <a:r>
              <a:rPr sz="1100" dirty="0"/>
              <a:t> </a:t>
            </a:r>
            <a:r>
              <a:rPr sz="1100" dirty="0" err="1"/>
              <a:t>pendaftar</a:t>
            </a:r>
            <a:r>
              <a:rPr sz="1100" dirty="0"/>
              <a:t> </a:t>
            </a:r>
            <a:r>
              <a:rPr sz="1100" dirty="0" err="1"/>
              <a:t>tanpa</a:t>
            </a:r>
            <a:r>
              <a:rPr sz="1100" dirty="0"/>
              <a:t> </a:t>
            </a:r>
            <a:r>
              <a:rPr sz="1100" dirty="0" err="1"/>
              <a:t>paksaan</a:t>
            </a:r>
            <a:r>
              <a:rPr sz="1100" dirty="0"/>
              <a:t> </a:t>
            </a:r>
            <a:r>
              <a:rPr sz="1100" dirty="0" err="1"/>
              <a:t>satu</a:t>
            </a:r>
            <a:r>
              <a:rPr sz="1100" dirty="0"/>
              <a:t> </a:t>
            </a:r>
            <a:r>
              <a:rPr sz="1100" dirty="0" err="1"/>
              <a:t>kategori</a:t>
            </a:r>
            <a:r>
              <a:rPr sz="1100" dirty="0"/>
              <a:t> </a:t>
            </a:r>
            <a:r>
              <a:rPr sz="1100" dirty="0" err="1"/>
              <a:t>absolut</a:t>
            </a:r>
            <a:r>
              <a:rPr sz="1100" dirty="0"/>
              <a:t>.</a:t>
            </a:r>
          </a:p>
          <a:p>
            <a:pPr>
              <a:defRPr sz="1800"/>
            </a:pPr>
            <a:r>
              <a:rPr sz="1100" dirty="0"/>
              <a:t>2. </a:t>
            </a:r>
            <a:r>
              <a:rPr sz="1100" dirty="0" err="1"/>
              <a:t>Pasar</a:t>
            </a:r>
            <a:r>
              <a:rPr sz="1100" dirty="0"/>
              <a:t> PMB ITSNU </a:t>
            </a:r>
            <a:r>
              <a:rPr sz="1100" dirty="0" err="1"/>
              <a:t>sangat</a:t>
            </a:r>
            <a:r>
              <a:rPr sz="1100" dirty="0"/>
              <a:t> </a:t>
            </a:r>
            <a:r>
              <a:rPr sz="1100" dirty="0" err="1"/>
              <a:t>dinamis</a:t>
            </a:r>
            <a:r>
              <a:rPr sz="1100" dirty="0"/>
              <a:t> (ARI &lt; 0.30), </a:t>
            </a:r>
            <a:r>
              <a:rPr sz="1100" dirty="0" err="1"/>
              <a:t>sehingga</a:t>
            </a:r>
            <a:r>
              <a:rPr sz="1100" dirty="0"/>
              <a:t> marketing </a:t>
            </a:r>
            <a:r>
              <a:rPr sz="1100" dirty="0" err="1"/>
              <a:t>butuh</a:t>
            </a:r>
            <a:r>
              <a:rPr sz="1100" dirty="0"/>
              <a:t> </a:t>
            </a:r>
            <a:r>
              <a:rPr sz="1100" dirty="0" err="1"/>
              <a:t>strategi</a:t>
            </a:r>
            <a:r>
              <a:rPr sz="1100" dirty="0"/>
              <a:t> </a:t>
            </a:r>
            <a:r>
              <a:rPr sz="1100" dirty="0" err="1"/>
              <a:t>probabilistik</a:t>
            </a:r>
            <a:r>
              <a:rPr sz="1100" dirty="0"/>
              <a:t> yang </a:t>
            </a:r>
            <a:r>
              <a:rPr sz="1100" dirty="0" err="1"/>
              <a:t>adaptif</a:t>
            </a:r>
            <a:r>
              <a:rPr sz="1100" dirty="0"/>
              <a:t>.</a:t>
            </a:r>
          </a:p>
          <a:p>
            <a:pPr>
              <a:defRPr sz="1800"/>
            </a:pPr>
            <a:r>
              <a:rPr sz="1100" dirty="0"/>
              <a:t>3. Hybrid Cognitive Pipeline (LLM) </a:t>
            </a:r>
            <a:r>
              <a:rPr sz="1100" dirty="0" err="1"/>
              <a:t>tervalidasi</a:t>
            </a:r>
            <a:r>
              <a:rPr sz="1100" dirty="0"/>
              <a:t> </a:t>
            </a:r>
            <a:r>
              <a:rPr sz="1100" dirty="0" err="1"/>
              <a:t>akurat</a:t>
            </a:r>
            <a:r>
              <a:rPr sz="1100" dirty="0"/>
              <a:t> </a:t>
            </a:r>
            <a:r>
              <a:rPr sz="1100" dirty="0" err="1"/>
              <a:t>mentransformasi</a:t>
            </a:r>
            <a:r>
              <a:rPr sz="1100" dirty="0"/>
              <a:t> </a:t>
            </a:r>
            <a:r>
              <a:rPr sz="1100" dirty="0" err="1"/>
              <a:t>angka</a:t>
            </a:r>
            <a:r>
              <a:rPr sz="1100" dirty="0"/>
              <a:t> </a:t>
            </a:r>
            <a:r>
              <a:rPr sz="1100" dirty="0" err="1"/>
              <a:t>ke</a:t>
            </a:r>
            <a:r>
              <a:rPr sz="1100" dirty="0"/>
              <a:t> </a:t>
            </a:r>
            <a:r>
              <a:rPr sz="1100" dirty="0" err="1"/>
              <a:t>narasi</a:t>
            </a:r>
            <a:r>
              <a:rPr sz="1100" dirty="0"/>
              <a:t> </a:t>
            </a:r>
            <a:r>
              <a:rPr sz="1100" dirty="0" err="1"/>
              <a:t>manajerial</a:t>
            </a:r>
            <a:r>
              <a:rPr sz="1100" dirty="0"/>
              <a:t> marketing.</a:t>
            </a:r>
          </a:p>
          <a:p>
            <a:pPr>
              <a:defRPr sz="1800"/>
            </a:pPr>
            <a:r>
              <a:rPr sz="1100" dirty="0" err="1"/>
              <a:t>Rekomendasi</a:t>
            </a:r>
            <a:r>
              <a:rPr sz="1100" dirty="0"/>
              <a:t>:</a:t>
            </a:r>
          </a:p>
          <a:p>
            <a:pPr>
              <a:defRPr sz="1800"/>
            </a:pPr>
            <a:r>
              <a:rPr sz="1100" dirty="0" err="1"/>
              <a:t>Terapkan</a:t>
            </a:r>
            <a:r>
              <a:rPr sz="1100" dirty="0"/>
              <a:t> dashboard PMB-LLM </a:t>
            </a:r>
            <a:r>
              <a:rPr sz="1100" dirty="0" err="1"/>
              <a:t>untuk</a:t>
            </a:r>
            <a:r>
              <a:rPr sz="1100" dirty="0"/>
              <a:t> </a:t>
            </a:r>
            <a:r>
              <a:rPr sz="1100" dirty="0" err="1"/>
              <a:t>merancang</a:t>
            </a:r>
            <a:r>
              <a:rPr sz="1100" dirty="0"/>
              <a:t> </a:t>
            </a:r>
            <a:r>
              <a:rPr sz="1100" dirty="0" err="1"/>
              <a:t>strategi</a:t>
            </a:r>
            <a:r>
              <a:rPr sz="1100" dirty="0"/>
              <a:t> marketing real-time </a:t>
            </a:r>
            <a:r>
              <a:rPr sz="1100" dirty="0" err="1"/>
              <a:t>berdasarkan</a:t>
            </a:r>
            <a:r>
              <a:rPr sz="1100" dirty="0"/>
              <a:t> </a:t>
            </a:r>
            <a:r>
              <a:rPr sz="1100" dirty="0" err="1"/>
              <a:t>evolusi</a:t>
            </a:r>
            <a:r>
              <a:rPr sz="1100" dirty="0"/>
              <a:t> </a:t>
            </a:r>
            <a:r>
              <a:rPr sz="1100" dirty="0" err="1"/>
              <a:t>pendaftar</a:t>
            </a:r>
            <a:r>
              <a:rPr sz="1100"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866</Words>
  <Application>Microsoft Macintosh PowerPoint</Application>
  <PresentationFormat>Tampilan Layar (4:3)</PresentationFormat>
  <Paragraphs>50</Paragraphs>
  <Slides>7</Slides>
  <Notes>7</Notes>
  <HiddenSlides>0</HiddenSlides>
  <MMClips>0</MMClips>
  <ScaleCrop>false</ScaleCrop>
  <HeadingPairs>
    <vt:vector size="6" baseType="variant">
      <vt:variant>
        <vt:lpstr>Font Dipakai</vt:lpstr>
      </vt:variant>
      <vt:variant>
        <vt:i4>2</vt:i4>
      </vt:variant>
      <vt:variant>
        <vt:lpstr>Tema</vt:lpstr>
      </vt:variant>
      <vt:variant>
        <vt:i4>1</vt:i4>
      </vt:variant>
      <vt:variant>
        <vt:lpstr>Judul Slide</vt:lpstr>
      </vt:variant>
      <vt:variant>
        <vt:i4>7</vt:i4>
      </vt:variant>
    </vt:vector>
  </HeadingPairs>
  <TitlesOfParts>
    <vt:vector size="10" baseType="lpstr">
      <vt:lpstr>Arial</vt:lpstr>
      <vt:lpstr>Calibri</vt:lpstr>
      <vt:lpstr>Office Theme</vt:lpstr>
      <vt:lpstr>Strategi Segmentasi Probabilistik Calon Mahasiswa Menggunakan GMM &amp; LLM</vt:lpstr>
      <vt:lpstr>Rumusan &amp; Batasan Masalah</vt:lpstr>
      <vt:lpstr>Metodologi Penelitian (CRISP-DM &amp; Pipeline)</vt:lpstr>
      <vt:lpstr>Penentuan Klaster Optimal (GMM)</vt:lpstr>
      <vt:lpstr>Stabilitas Model &amp; Structural Breaks</vt:lpstr>
      <vt:lpstr>Validasi Persona LLM (Hybrid Pipeline)</vt:lpstr>
      <vt:lpstr>Kesimpulan &amp; Rekomendasi</vt:lpstr>
    </vt:vector>
  </TitlesOfParts>
  <Manager/>
  <Company/>
  <LinksUpToDate>false</LinksUpToDate>
  <SharedDoc>false</SharedDoc>
  <HyperlinkBase/>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 Segmentasi Probabilistik Calon Mahasiswa Menggunakan GMM &amp; LLM</dc:title>
  <dc:subject/>
  <dc:creator/>
  <cp:keywords/>
  <dc:description>generated using python-pptx</dc:description>
  <cp:lastModifiedBy>Microsoft Office User</cp:lastModifiedBy>
  <cp:revision>3</cp:revision>
  <dcterms:created xsi:type="dcterms:W3CDTF">2013-01-27T09:14:16Z</dcterms:created>
  <dcterms:modified xsi:type="dcterms:W3CDTF">2026-07-09T19:54:10Z</dcterms:modified>
  <cp:category/>
</cp:coreProperties>
</file>