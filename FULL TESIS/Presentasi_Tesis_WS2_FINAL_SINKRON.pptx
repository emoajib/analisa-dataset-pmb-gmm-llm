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Strategi Segmentasi Probabilistik Calon Mahasiswa</a:t>
            </a:r>
          </a:p>
          <a:p>
            <a:r>
              <a:t>Menggunakan GMM &amp; LLM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Oleh: Mujibul Hakim (25.01.85.7010)</a:t>
            </a:r>
          </a:p>
          <a:p>
            <a:r>
              <a:t>Magister Teknologi Informasi, ITSNU Pekalongan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Rumusan &amp; Batasan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pPr>
              <a:defRPr sz="1800"/>
            </a:pPr>
            <a:r>
              <a:t>Rumusan Masalah:</a:t>
            </a:r>
          </a:p>
          <a:p>
            <a:pPr>
              <a:defRPr sz="1800"/>
            </a:pPr>
            <a:r>
              <a:t>1. Bagaimana karakteristik segmentasi GMM berbasis IndoBERT 2019–2024?</a:t>
            </a:r>
          </a:p>
          <a:p>
            <a:pPr>
              <a:defRPr sz="1800"/>
            </a:pPr>
            <a:r>
              <a:t>2. Bagaimana evolusi stabilitas klaster (ARI, Jaccard) akibat pandemi COVID-19?</a:t>
            </a:r>
          </a:p>
          <a:p>
            <a:pPr>
              <a:defRPr sz="1800"/>
            </a:pPr>
            <a:r>
              <a:t>3. Bagaimana otomasi LLM (OpenRouter/Llama 3.3) mengoptimasi generasi persona?</a:t>
            </a:r>
          </a:p>
          <a:p>
            <a:pPr>
              <a:defRPr sz="1800"/>
            </a:pPr>
            <a:r>
              <a:t>4. Bagaimana validitas otomasi LLM berdasarkan penilaian pakar (Expert Judgement)?</a:t>
            </a:r>
          </a:p>
          <a:p>
            <a:pPr>
              <a:defRPr sz="1800"/>
            </a:pPr>
            <a:r>
              <a:t>Batasan:</a:t>
            </a:r>
          </a:p>
          <a:p>
            <a:pPr>
              <a:defRPr sz="1800"/>
            </a:pPr>
            <a:r>
              <a:t>Menggunakan data sekunder 2019-2024 (nama, asal sekolah, alamat) dan Hybrid Cognitive Pipeline LLM.</a:t>
            </a:r>
          </a:p>
        </p:txBody>
      </p:sp>
      <p:pic>
        <p:nvPicPr>
          <p:cNvPr id="4" name="Picture 3" descr="gambar_4_1_distribu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Penentuan Klaster Optimal (GMM)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pPr>
              <a:defRPr sz="1800"/>
            </a:pPr>
            <a:r>
              <a:t>Hasil Integrasi IndoBERT &amp; GMM (2019-2024):</a:t>
            </a:r>
          </a:p>
          <a:p>
            <a:pPr lvl="1">
              <a:defRPr sz="1600"/>
            </a:pPr>
            <a:r>
              <a:t>K optimal bervariasi tiap periode (6, 6, 6, 5, 2, 3) klaster.</a:t>
            </a:r>
          </a:p>
          <a:p>
            <a:pPr lvl="1">
              <a:defRPr sz="1600"/>
            </a:pPr>
            <a:r>
              <a:t>Terjadi konsolidasi segmen pendaftar yang homogen dari 6 klaster (2019) menjadi 2 klaster (2023).</a:t>
            </a:r>
          </a:p>
          <a:p>
            <a:pPr lvl="1">
              <a:defRPr sz="1600"/>
            </a:pPr>
            <a:r>
              <a:t>Silhouette Score (misal 0.0905 pada 2023) menunjukkan model probabilitas GMM efektif menangani tumpang tindih segmen dibanding hard clustering.</a:t>
            </a:r>
          </a:p>
        </p:txBody>
      </p:sp>
      <p:pic>
        <p:nvPicPr>
          <p:cNvPr id="4" name="Picture 3" descr="gambar_4_3a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Stabilitas Model &amp; Structural Breaks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pPr>
              <a:defRPr sz="1800"/>
            </a:pPr>
            <a:r>
              <a:t>Dinamika Perubahan Struktural Pendaftar:</a:t>
            </a:r>
          </a:p>
          <a:p>
            <a:pPr lvl="1">
              <a:defRPr sz="1600"/>
            </a:pPr>
            <a:r>
              <a:t>Evaluasi stabilitas (ARI) membuktikan asumsi pasar statis adalah keliru.</a:t>
            </a:r>
          </a:p>
          <a:p>
            <a:pPr lvl="1">
              <a:defRPr sz="1600"/>
            </a:pPr>
            <a:r>
              <a:t>Seluruh 5 transisi antar periode (2019-2024) adalah structural break (ARI &lt; 0.30).</a:t>
            </a:r>
          </a:p>
          <a:p>
            <a:pPr lvl="1">
              <a:defRPr sz="1600"/>
            </a:pPr>
            <a:r>
              <a:t>Transisi Baseline ke COVID Crisis (2019-2020) mencatat disrupsi ekstrem (ARI = -0.0036).</a:t>
            </a:r>
          </a:p>
          <a:p>
            <a:pPr lvl="1">
              <a:defRPr sz="1600"/>
            </a:pPr>
            <a:r>
              <a:t>Model GMM sukses memetakan pergeseran centroid (Centroid Drift) ini secara presisi.</a:t>
            </a:r>
          </a:p>
        </p:txBody>
      </p:sp>
      <p:pic>
        <p:nvPicPr>
          <p:cNvPr id="4" name="Picture 3" descr="gambar_4_3c_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Validasi Persona LLM (Hybrid 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pPr>
              <a:defRPr sz="1800"/>
            </a:pPr>
            <a:r>
              <a:t>Otomasi Penalaran (Reasoning) Skala Besar:</a:t>
            </a:r>
          </a:p>
          <a:p>
            <a:pPr lvl="1">
              <a:defRPr sz="1600"/>
            </a:pPr>
            <a:r>
              <a:t>Menggunakan OpenRouter (Llama 3.3 70B, Nemotron) mengubah data kuantitatif ke narasi.</a:t>
            </a:r>
          </a:p>
          <a:p>
            <a:pPr lvl="1">
              <a:defRPr sz="1600"/>
            </a:pPr>
            <a:r>
              <a:t>LLM berhasil men-generate narasi persona calon mahasiswa dengan logika kausal yang tajam.</a:t>
            </a:r>
          </a:p>
          <a:p>
            <a:pPr lvl="1">
              <a:defRPr sz="1600"/>
            </a:pPr>
            <a:r>
              <a:t>Divalidasi menggunakan Expert Judgement, membuktikan kapabilitas Generative AI untuk ranah manajerial ITSNU.</a:t>
            </a:r>
          </a:p>
        </p:txBody>
      </p:sp>
      <p:pic>
        <p:nvPicPr>
          <p:cNvPr id="4" name="Picture 3" descr="gambar_4_5_proyek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&amp; Rekomendasi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pPr>
              <a:defRPr sz="1800"/>
            </a:pPr>
            <a:r>
              <a:t>Kesimpulan Utama:</a:t>
            </a:r>
          </a:p>
          <a:p>
            <a:pPr>
              <a:defRPr sz="1800"/>
            </a:pPr>
            <a:r>
              <a:t>1. IndoBERT + GMM sangat efektif memetakan probabilitas pendaftar tanpa paksaan satu kategori absolut.</a:t>
            </a:r>
          </a:p>
          <a:p>
            <a:pPr>
              <a:defRPr sz="1800"/>
            </a:pPr>
            <a:r>
              <a:t>2. Pasar PMB ITSNU sangat dinamis (ARI &lt; 0.30), sehingga marketing butuh strategi probabilistik yang adaptif.</a:t>
            </a:r>
          </a:p>
          <a:p>
            <a:pPr>
              <a:defRPr sz="1800"/>
            </a:pPr>
            <a:r>
              <a:t>3. Hybrid Cognitive Pipeline (LLM) tervalidasi akurat mentransformasi angka ke narasi manajerial marketing.</a:t>
            </a:r>
          </a:p>
          <a:p>
            <a:pPr>
              <a:defRPr sz="1800"/>
            </a:pPr>
            <a:r>
              <a:t>Rekomendasi:</a:t>
            </a:r>
          </a:p>
          <a:p>
            <a:pPr>
              <a:defRPr sz="1800"/>
            </a:pPr>
            <a:r>
              <a:t>Terapkan dashboard PMB-LLM untuk merancang strategi marketing real-time berdasarkan evolusi pendaftar.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