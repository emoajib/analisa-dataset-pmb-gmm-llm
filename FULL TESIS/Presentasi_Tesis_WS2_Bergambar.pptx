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/>
            </a:pPr>
            <a:r>
              <a:t>Strategi Segmentasi Probabilistik Calon Mahasiswa</a:t>
            </a:r>
          </a:p>
          <a:p>
            <a:r>
              <a:t>Menggunakan GMM &amp; LLM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Oleh: Mujibul Hakim (25.01.85.7010)</a:t>
            </a:r>
          </a:p>
          <a:p>
            <a:r>
              <a:t>Magister Teknologi Informasi, ITSNU Pekalongan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Latar Belakang Masalah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>
            <a:pPr>
              <a:defRPr sz="1800"/>
            </a:pPr>
            <a:r>
              <a:t>Distribusi demografis PMB ITSNU (kanan) butuh strategi pemetaan otomatis.</a:t>
            </a:r>
          </a:p>
          <a:p>
            <a:pPr>
              <a:defRPr sz="1800"/>
            </a:pPr>
            <a:r>
              <a:t>Segmentasi saat ini masih bersifat deskriptif dasar.</a:t>
            </a:r>
          </a:p>
          <a:p>
            <a:pPr>
              <a:defRPr sz="1800"/>
            </a:pPr>
            <a:r>
              <a:t>Pendekatan Hybrid:</a:t>
            </a:r>
          </a:p>
          <a:p>
            <a:pPr lvl="1">
              <a:defRPr sz="1600"/>
            </a:pPr>
            <a:r>
              <a:t>IndoBERT (Teks)</a:t>
            </a:r>
          </a:p>
          <a:p>
            <a:pPr lvl="1">
              <a:defRPr sz="1600"/>
            </a:pPr>
            <a:r>
              <a:t>GMM (Klasterisasi)</a:t>
            </a:r>
          </a:p>
          <a:p>
            <a:pPr lvl="1">
              <a:defRPr sz="1600"/>
            </a:pPr>
            <a:r>
              <a:t>LLM (Persona)</a:t>
            </a:r>
          </a:p>
        </p:txBody>
      </p:sp>
      <p:pic>
        <p:nvPicPr>
          <p:cNvPr id="4" name="Picture 3" descr="gambar_4_1_distribu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Evaluasi Klaster (K-Scan)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>
            <a:pPr>
              <a:defRPr sz="1800"/>
            </a:pPr>
            <a:r>
              <a:t>Metode penentuan klaster:</a:t>
            </a:r>
          </a:p>
          <a:p>
            <a:pPr lvl="1">
              <a:defRPr sz="1600"/>
            </a:pPr>
            <a:r>
              <a:t>BIC &amp; AIC</a:t>
            </a:r>
          </a:p>
          <a:p>
            <a:pPr lvl="1">
              <a:defRPr sz="1600"/>
            </a:pPr>
            <a:r>
              <a:t>Silhouette Coefficient</a:t>
            </a:r>
          </a:p>
          <a:p>
            <a:pPr>
              <a:defRPr sz="1800"/>
            </a:pPr>
            <a:r>
              <a:t>Grafik Silhouette Score (kanan) menunjukkan K=4 sebagai jumlah klaster optimal dengan pemisahan spasial terbaik.</a:t>
            </a:r>
          </a:p>
        </p:txBody>
      </p:sp>
      <p:pic>
        <p:nvPicPr>
          <p:cNvPr id="4" name="Picture 3" descr="gambar_4_3a_silhou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Distribusi Klaster GMM (2024)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>
            <a:pPr>
              <a:defRPr sz="1800"/>
            </a:pPr>
            <a:r>
              <a:t>Visualisasi Scatter Plot (PCA 2D) untuk pendaftar tahun 2024:</a:t>
            </a:r>
          </a:p>
          <a:p>
            <a:pPr lvl="1">
              <a:defRPr sz="1600"/>
            </a:pPr>
            <a:r>
              <a:t>Klaster 0: Mahasiswa Teknis Lokal</a:t>
            </a:r>
          </a:p>
          <a:p>
            <a:pPr lvl="1">
              <a:defRPr sz="1600"/>
            </a:pPr>
            <a:r>
              <a:t>Klaster 1: Pencari Stabilitas Karir</a:t>
            </a:r>
          </a:p>
          <a:p>
            <a:pPr lvl="1">
              <a:defRPr sz="1600"/>
            </a:pPr>
            <a:r>
              <a:t>Klaster 2: Penggerak Ekonomi Desa</a:t>
            </a:r>
          </a:p>
          <a:p>
            <a:pPr lvl="1">
              <a:defRPr sz="1600"/>
            </a:pPr>
            <a:r>
              <a:t>Klaster 3: Inovator Lintas Disiplin</a:t>
            </a:r>
          </a:p>
        </p:txBody>
      </p:sp>
      <p:pic>
        <p:nvPicPr>
          <p:cNvPr id="4" name="Picture 3" descr="gambar_4_2f_scatter_2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Stabilitas Time-Series (2019-2024)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>
            <a:pPr>
              <a:defRPr sz="1800"/>
            </a:pPr>
            <a:r>
              <a:t>Evaluasi konsistensi antar tahun (Adjusted Rand Index):</a:t>
            </a:r>
          </a:p>
          <a:p>
            <a:pPr lvl="1">
              <a:defRPr sz="1600"/>
            </a:pPr>
            <a:r>
              <a:t>Nilai ARI konstan stabil di atas 0.70</a:t>
            </a:r>
          </a:p>
          <a:p>
            <a:pPr lvl="1">
              <a:defRPr sz="1600"/>
            </a:pPr>
            <a:r>
              <a:t>Menandakan GMM kebal terhadap fluktuasi minor pendaftar (robust).</a:t>
            </a:r>
          </a:p>
          <a:p>
            <a:pPr lvl="1">
              <a:defRPr sz="1600"/>
            </a:pPr>
            <a:r>
              <a:t>Pergeseran centroid minor terjadi akibat efek pandemi, namun tidak merusak profil utama.</a:t>
            </a:r>
          </a:p>
        </p:txBody>
      </p:sp>
      <p:pic>
        <p:nvPicPr>
          <p:cNvPr id="4" name="Picture 3" descr="gambar_4_3c_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Otomasi Profiling LLM (Persona)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Dimensi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KMeans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Silhouette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0.09574893406006242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0.09064997174960163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Calinski-Harabasz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20.799175635655136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48.87050233171157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Davies-Bouldin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2.671055135131992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3.0735979974019534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Proyeksi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Tidak ada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Persona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Tidak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Proyeksi &amp; 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>
            <a:pPr>
              <a:defRPr sz="1800"/>
            </a:pPr>
            <a:r>
              <a:t>Kesimpulan:</a:t>
            </a:r>
          </a:p>
          <a:p>
            <a:pPr>
              <a:defRPr sz="1800"/>
            </a:pPr>
            <a:r>
              <a:t>1. IndoBERT &amp; GMM akurat membentuk 4 klaster utama.</a:t>
            </a:r>
          </a:p>
          <a:p>
            <a:pPr>
              <a:defRPr sz="1800"/>
            </a:pPr>
            <a:r>
              <a:t>2. LLM lokal (Ollama) sangat efektif merumuskan persona target.</a:t>
            </a:r>
          </a:p>
          <a:p>
            <a:pPr>
              <a:defRPr sz="1800"/>
            </a:pPr>
            <a:r>
              <a:t>3. Sistem stabil lintas waktu (ARI tinggi).</a:t>
            </a:r>
          </a:p>
          <a:p>
            <a:pPr>
              <a:defRPr sz="1800"/>
            </a:pPr>
            <a:r>
              <a:t>Saran (Proyeksi 2025):</a:t>
            </a:r>
          </a:p>
          <a:p>
            <a:pPr>
              <a:defRPr sz="1800"/>
            </a:pPr>
            <a:r>
              <a:t>Gunakan strategi promosi yang spesifik per klaster seperti pada grafik (kanan).</a:t>
            </a:r>
          </a:p>
        </p:txBody>
      </p:sp>
      <p:pic>
        <p:nvPicPr>
          <p:cNvPr id="4" name="Picture 3" descr="gambar_4_5_proyek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2468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